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11"/>
  </p:notesMasterIdLst>
  <p:handoutMasterIdLst>
    <p:handoutMasterId r:id="rId12"/>
  </p:handoutMasterIdLst>
  <p:sldIdLst>
    <p:sldId id="256" r:id="rId2"/>
    <p:sldId id="273" r:id="rId3"/>
    <p:sldId id="257" r:id="rId4"/>
    <p:sldId id="276" r:id="rId5"/>
    <p:sldId id="280" r:id="rId6"/>
    <p:sldId id="275" r:id="rId7"/>
    <p:sldId id="277" r:id="rId8"/>
    <p:sldId id="278" r:id="rId9"/>
    <p:sldId id="27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18-09-2025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3256529248"/>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18-09-2025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extLst>
      <p:ext uri="{BB962C8B-B14F-4D97-AF65-F5344CB8AC3E}">
        <p14:creationId xmlns:p14="http://schemas.microsoft.com/office/powerpoint/2010/main" val="168595950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959A3652-50D4-4FDF-8386-41D9AF369814}"/>
              </a:ext>
            </a:extLst>
          </p:cNvPr>
          <p:cNvSpPr txBox="1">
            <a:spLocks/>
          </p:cNvSpPr>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a:extLst>
              <a:ext uri="{FF2B5EF4-FFF2-40B4-BE49-F238E27FC236}">
                <a16:creationId xmlns:a16="http://schemas.microsoft.com/office/drawing/2014/main" id="{B31DCAD4-E344-44EC-AB07-C9E97F2AF1A1}"/>
              </a:ext>
            </a:extLst>
          </p:cNvPr>
          <p:cNvSpPr txBox="1">
            <a:spLocks/>
          </p:cNvSpPr>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2F22E408-EF1D-4BD0-98E0-8FC4C9B3A82C}"/>
              </a:ext>
            </a:extLst>
          </p:cNvPr>
          <p:cNvSpPr txBox="1">
            <a:spLocks/>
          </p:cNvSpPr>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E7651D7E-4AFA-4EAA-B423-DDD0ED684DAE}"/>
              </a:ext>
            </a:extLst>
          </p:cNvPr>
          <p:cNvSpPr txBox="1">
            <a:spLocks/>
          </p:cNvSpPr>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C25449CC-CB33-491F-903E-B38334CA8A09}"/>
              </a:ext>
            </a:extLst>
          </p:cNvPr>
          <p:cNvSpPr txBox="1">
            <a:spLocks/>
          </p:cNvSpPr>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73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a:extLst>
              <a:ext uri="{FF2B5EF4-FFF2-40B4-BE49-F238E27FC236}">
                <a16:creationId xmlns:a16="http://schemas.microsoft.com/office/drawing/2014/main" id="{BB998037-E035-4CAB-833F-75CAE5A73D0B}"/>
              </a:ext>
            </a:extLst>
          </p:cNvPr>
          <p:cNvSpPr txBox="1">
            <a:spLocks/>
          </p:cNvSpPr>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(Data Science)</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BC5DB233-EECA-4CB3-99D6-5066ABF08F18}"/>
              </a:ext>
            </a:extLst>
          </p:cNvPr>
          <p:cNvSpPr txBox="1">
            <a:spLocks/>
          </p:cNvSpPr>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CB262772-2230-41D2-9B79-2AECA3A31396}"/>
              </a:ext>
            </a:extLst>
          </p:cNvPr>
          <p:cNvSpPr txBox="1">
            <a:spLocks/>
          </p:cNvSpPr>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1B44364A-DBDE-4F64-9D13-B56BF0C232A3}"/>
              </a:ext>
            </a:extLst>
          </p:cNvPr>
          <p:cNvSpPr txBox="1">
            <a:spLocks/>
          </p:cNvSpPr>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a:solidFill>
                  <a:schemeClr val="bg1"/>
                </a:solidFill>
                <a:effectLst/>
                <a:latin typeface="Times New Roman" panose="02020603050405020304" pitchFamily="18" charset="0"/>
                <a:cs typeface="Times New Roman" panose="02020603050405020304" pitchFamily="18" charset="0"/>
              </a:rPr>
              <a:t>Optimizing Delivery Routes With Quantum Algorithms</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72D5020-7DF7-495B-96CC-4064365630D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a:extLst>
              <a:ext uri="{FF2B5EF4-FFF2-40B4-BE49-F238E27FC236}">
                <a16:creationId xmlns:a16="http://schemas.microsoft.com/office/drawing/2014/main" id="{1D25D96C-1396-47B4-9E8C-C053C7555307}"/>
              </a:ext>
            </a:extLst>
          </p:cNvPr>
          <p:cNvSpPr txBox="1">
            <a:spLocks/>
          </p:cNvSpPr>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B - 2</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5597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4516546"/>
      </p:ext>
    </p:extLst>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a:spLocks/>
          </p:cNvSpPr>
          <p:nvPr/>
        </p:nvSpPr>
        <p:spPr>
          <a:xfrm>
            <a:off x="6095991"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P </a:t>
            </a:r>
            <a:r>
              <a:rPr lang="en-US" sz="2600" b="0" dirty="0" err="1">
                <a:effectLst>
                  <a:outerShdw blurRad="38100" dist="38100" dir="2700000" algn="tl">
                    <a:srgbClr val="000000">
                      <a:alpha val="43137"/>
                    </a:srgbClr>
                  </a:outerShdw>
                </a:effectLst>
              </a:rPr>
              <a:t>Venkatanaveen</a:t>
            </a:r>
            <a:endParaRPr lang="en-US" sz="2600" b="0" dirty="0">
              <a:effectLst>
                <a:outerShdw blurRad="38100" dist="38100" dir="2700000" algn="tl">
                  <a:srgbClr val="000000">
                    <a:alpha val="43137"/>
                  </a:srgbClr>
                </a:outerShdw>
              </a:effectLst>
            </a:endParaRPr>
          </a:p>
          <a:p>
            <a:pPr>
              <a:spcBef>
                <a:spcPts val="300"/>
              </a:spcBef>
            </a:pPr>
            <a:r>
              <a:rPr lang="en-US" sz="1200" b="0" dirty="0"/>
              <a:t>Roll No. 224G1A32B1</a:t>
            </a:r>
          </a:p>
        </p:txBody>
      </p:sp>
      <p:sp>
        <p:nvSpPr>
          <p:cNvPr id="6" name="Subtitle 11"/>
          <p:cNvSpPr txBox="1">
            <a:spLocks/>
          </p:cNvSpPr>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US" sz="2400" b="0" dirty="0">
                <a:effectLst>
                  <a:outerShdw blurRad="38100" dist="38100" dir="2700000" algn="tl">
                    <a:srgbClr val="000000">
                      <a:alpha val="43137"/>
                    </a:srgbClr>
                  </a:outerShdw>
                </a:effectLst>
              </a:rPr>
              <a:t>Mr. K Venkatesh </a:t>
            </a:r>
            <a:r>
              <a:rPr lang="en-US" sz="2400" b="0" baseline="-25000" dirty="0">
                <a:effectLst>
                  <a:outerShdw blurRad="38100" dist="38100" dir="2700000" algn="tl">
                    <a:srgbClr val="000000">
                      <a:alpha val="43137"/>
                    </a:srgbClr>
                  </a:outerShdw>
                </a:effectLst>
              </a:rPr>
              <a:t>M. Tech.(</a:t>
            </a:r>
            <a:r>
              <a:rPr lang="en-US" sz="2400" b="0" baseline="-25000" dirty="0" err="1">
                <a:effectLst>
                  <a:outerShdw blurRad="38100" dist="38100" dir="2700000" algn="tl">
                    <a:srgbClr val="000000">
                      <a:alpha val="43137"/>
                    </a:srgbClr>
                  </a:outerShdw>
                </a:effectLst>
              </a:rPr>
              <a:t>Ph.D</a:t>
            </a:r>
            <a:r>
              <a:rPr lang="en-US" sz="2400" b="0" baseline="-25000" dirty="0">
                <a:effectLst>
                  <a:outerShdw blurRad="38100" dist="38100" dir="2700000" algn="tl">
                    <a:srgbClr val="000000">
                      <a:alpha val="43137"/>
                    </a:srgbClr>
                  </a:outerShdw>
                </a:effectLst>
              </a:rPr>
              <a:t>)</a:t>
            </a:r>
            <a:endParaRPr lang="en-IN" sz="2400" b="0" baseline="-25000" dirty="0">
              <a:effectLst>
                <a:outerShdw blurRad="38100" dist="38100" dir="2700000" algn="tl">
                  <a:srgbClr val="000000">
                    <a:alpha val="43137"/>
                  </a:srgbClr>
                </a:outerShdw>
              </a:effectLst>
            </a:endParaRPr>
          </a:p>
          <a:p>
            <a:pPr>
              <a:spcBef>
                <a:spcPts val="200"/>
              </a:spcBef>
            </a:pPr>
            <a:r>
              <a:rPr lang="en-IN" sz="1400" b="0" dirty="0"/>
              <a:t>Assistant Professor</a:t>
            </a:r>
          </a:p>
        </p:txBody>
      </p:sp>
      <p:sp>
        <p:nvSpPr>
          <p:cNvPr id="7" name="Subtitle 11"/>
          <p:cNvSpPr txBox="1">
            <a:spLocks/>
          </p:cNvSpPr>
          <p:nvPr/>
        </p:nvSpPr>
        <p:spPr>
          <a:xfrm>
            <a:off x="1514475" y="5162533"/>
            <a:ext cx="9163049" cy="1427181"/>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(Data Science)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2100" dirty="0">
                <a:effectLst/>
                <a:ea typeface="Times New Roman" panose="02020603050405020304" pitchFamily="18" charset="0"/>
              </a:rPr>
              <a:t>(Affiliated to JNTUA &amp; Approved by AICTE) (Accredited by NAAC with ‘A’ Grade &amp; Accredited by NBA (EEE, ECE &amp; CSE)</a:t>
            </a:r>
            <a:endParaRPr lang="en-US" sz="21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2025 - 2026</a:t>
            </a:r>
            <a:endParaRPr lang="en-US" sz="2500" b="0" dirty="0"/>
          </a:p>
          <a:p>
            <a:endParaRPr lang="en-IN" b="0" dirty="0"/>
          </a:p>
        </p:txBody>
      </p:sp>
      <p:sp>
        <p:nvSpPr>
          <p:cNvPr id="12" name="Subtitle 11">
            <a:extLst>
              <a:ext uri="{FF2B5EF4-FFF2-40B4-BE49-F238E27FC236}">
                <a16:creationId xmlns:a16="http://schemas.microsoft.com/office/drawing/2014/main" id="{76632DCF-444C-4AB9-A9A9-24B78326A786}"/>
              </a:ext>
            </a:extLst>
          </p:cNvPr>
          <p:cNvSpPr txBox="1">
            <a:spLocks/>
          </p:cNvSpPr>
          <p:nvPr/>
        </p:nvSpPr>
        <p:spPr>
          <a:xfrm>
            <a:off x="3574384" y="1783000"/>
            <a:ext cx="2382924" cy="584534"/>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N Naga Chaitanya</a:t>
            </a:r>
          </a:p>
          <a:p>
            <a:pPr>
              <a:spcBef>
                <a:spcPts val="300"/>
              </a:spcBef>
            </a:pPr>
            <a:r>
              <a:rPr lang="en-US" sz="1200" b="0" dirty="0"/>
              <a:t>Roll No. 224G1A3294</a:t>
            </a:r>
          </a:p>
        </p:txBody>
      </p:sp>
      <p:sp>
        <p:nvSpPr>
          <p:cNvPr id="13" name="Subtitle 11">
            <a:extLst>
              <a:ext uri="{FF2B5EF4-FFF2-40B4-BE49-F238E27FC236}">
                <a16:creationId xmlns:a16="http://schemas.microsoft.com/office/drawing/2014/main" id="{F3C3CADE-4DE0-4FED-8446-912E92DB0292}"/>
              </a:ext>
            </a:extLst>
          </p:cNvPr>
          <p:cNvSpPr txBox="1">
            <a:spLocks/>
          </p:cNvSpPr>
          <p:nvPr/>
        </p:nvSpPr>
        <p:spPr>
          <a:xfrm>
            <a:off x="8617598"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B Arjun Dev</a:t>
            </a:r>
          </a:p>
          <a:p>
            <a:pPr>
              <a:spcBef>
                <a:spcPts val="300"/>
              </a:spcBef>
            </a:pPr>
            <a:r>
              <a:rPr lang="en-US" sz="1200" b="0" dirty="0"/>
              <a:t>Roll No. 234G5A3202</a:t>
            </a:r>
          </a:p>
        </p:txBody>
      </p:sp>
      <p:sp>
        <p:nvSpPr>
          <p:cNvPr id="14" name="Subtitle 11">
            <a:extLst>
              <a:ext uri="{FF2B5EF4-FFF2-40B4-BE49-F238E27FC236}">
                <a16:creationId xmlns:a16="http://schemas.microsoft.com/office/drawing/2014/main" id="{7DD300AE-D81E-4AC8-BC57-566B57D6C660}"/>
              </a:ext>
            </a:extLst>
          </p:cNvPr>
          <p:cNvSpPr txBox="1">
            <a:spLocks/>
          </p:cNvSpPr>
          <p:nvPr/>
        </p:nvSpPr>
        <p:spPr>
          <a:xfrm>
            <a:off x="1191460" y="1783000"/>
            <a:ext cx="2382924" cy="584534"/>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R Suraiah Khaisar</a:t>
            </a:r>
          </a:p>
          <a:p>
            <a:pPr>
              <a:spcBef>
                <a:spcPts val="300"/>
              </a:spcBef>
            </a:pPr>
            <a:r>
              <a:rPr lang="en-US" sz="1200" b="0" dirty="0"/>
              <a:t>Roll No. 224G1A3298</a:t>
            </a:r>
          </a:p>
        </p:txBody>
      </p:sp>
      <p:sp>
        <p:nvSpPr>
          <p:cNvPr id="17" name="Rectangle: Rounded Corners 16">
            <a:extLst>
              <a:ext uri="{FF2B5EF4-FFF2-40B4-BE49-F238E27FC236}">
                <a16:creationId xmlns:a16="http://schemas.microsoft.com/office/drawing/2014/main" id="{F2213882-6464-4A96-96D5-EA4F95F404DE}"/>
              </a:ext>
            </a:extLst>
          </p:cNvPr>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Optimizing Delivery Routes With Quantum Algorithms</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C50F0CE-B0FB-48DA-AD7D-E96A1D3BC2A8}"/>
              </a:ext>
            </a:extLst>
          </p:cNvPr>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a:extLst>
              <a:ext uri="{FF2B5EF4-FFF2-40B4-BE49-F238E27FC236}">
                <a16:creationId xmlns:a16="http://schemas.microsoft.com/office/drawing/2014/main" id="{894CA60F-9532-4FDC-90D1-528E33CD3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2105" y="3477046"/>
            <a:ext cx="1843673" cy="1685487"/>
          </a:xfrm>
          <a:prstGeom prst="rect">
            <a:avLst/>
          </a:prstGeom>
        </p:spPr>
      </p:pic>
    </p:spTree>
    <p:extLst>
      <p:ext uri="{BB962C8B-B14F-4D97-AF65-F5344CB8AC3E}">
        <p14:creationId xmlns:p14="http://schemas.microsoft.com/office/powerpoint/2010/main" val="3655500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2D7B-CF16-46D8-8243-8661747A4014}"/>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0B9CA917-AD8E-4861-804D-4A5A6A205591}"/>
              </a:ext>
            </a:extLst>
          </p:cNvPr>
          <p:cNvSpPr>
            <a:spLocks noGrp="1"/>
          </p:cNvSpPr>
          <p:nvPr>
            <p:ph idx="1"/>
          </p:nvPr>
        </p:nvSpPr>
        <p:spPr/>
        <p:txBody>
          <a:bodyPr>
            <a:normAutofit/>
          </a:bodyPr>
          <a:lstStyle/>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Abstract</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Introduction</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Existing Solution And Drawbacks</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Proposed System </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References</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Queries</a:t>
            </a:r>
            <a:endParaRPr lang="en-IN" dirty="0"/>
          </a:p>
        </p:txBody>
      </p:sp>
    </p:spTree>
    <p:extLst>
      <p:ext uri="{BB962C8B-B14F-4D97-AF65-F5344CB8AC3E}">
        <p14:creationId xmlns:p14="http://schemas.microsoft.com/office/powerpoint/2010/main" val="532094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6" name="Content Placeholder 2">
            <a:extLst>
              <a:ext uri="{FF2B5EF4-FFF2-40B4-BE49-F238E27FC236}">
                <a16:creationId xmlns:a16="http://schemas.microsoft.com/office/drawing/2014/main" id="{8D3944A0-0FCB-46FB-9E73-72A37CA2B00B}"/>
              </a:ext>
            </a:extLst>
          </p:cNvPr>
          <p:cNvSpPr>
            <a:spLocks noGrp="1"/>
          </p:cNvSpPr>
          <p:nvPr>
            <p:ph idx="1"/>
          </p:nvPr>
        </p:nvSpPr>
        <p:spPr>
          <a:xfrm>
            <a:off x="199505" y="1097279"/>
            <a:ext cx="11779135" cy="5394960"/>
          </a:xfrm>
        </p:spPr>
        <p:txBody>
          <a:bodyPr>
            <a:noAutofit/>
          </a:bodyPr>
          <a:lstStyle/>
          <a:p>
            <a:r>
              <a:rPr lang="en-US" sz="2200" dirty="0"/>
              <a:t>The purpose of this project is to develop a </a:t>
            </a:r>
            <a:r>
              <a:rPr lang="en-US" sz="2200" b="1" dirty="0"/>
              <a:t>delivery routing system </a:t>
            </a:r>
            <a:r>
              <a:rPr lang="en-US" sz="2200" dirty="0"/>
              <a:t>that not only generates efficient primary routes but also provides multiple alternate routes for delivery partners, ensuring flexibility in real-world conditions such as traffic or delays. Traditional optimization methods, while effective, often return only a single solution, making them fragile in dynamic environments. This work models the problem as a Vehicle Routing Problem with Time Windows (VRPTW), where vehicles must minimize travel time and distance while serving customers within deadlines and capacity limits.</a:t>
            </a:r>
          </a:p>
          <a:p>
            <a:r>
              <a:rPr lang="en-US" sz="2200" dirty="0"/>
              <a:t>To address these challenges, a </a:t>
            </a:r>
            <a:r>
              <a:rPr lang="en-US" sz="2200" b="1" dirty="0"/>
              <a:t>hybrid quantum–classical framework</a:t>
            </a:r>
            <a:r>
              <a:rPr lang="en-US" sz="2200" dirty="0"/>
              <a:t> is proposed. The classical component handles clustering of customers, feasibility pruning, and repair of invalid solutions, while the quantum component, implemented using the Quantum Approximate Optimization Algorithm (QAOA), explores the solution space in parallel to provide diverse candidate routes. By sampling multiple near-optimal solutions, the system can keep feasible alternates ready, ensuring robustness if delivery partners encounter unexpected delays. Adaptive penalty tuning, multi-start initialization, and repair heuristics are used to stabilize performance and overcome limitations identified in prior research.</a:t>
            </a:r>
          </a:p>
          <a:p>
            <a:r>
              <a:rPr lang="en-US" sz="2200" dirty="0"/>
              <a:t>The expected outcome is a routing system that consistently produces feasible solutions, reduces the risk of delivery failures, and demonstrates how quantum computing can complement classical optimization for practical logistics.</a:t>
            </a:r>
          </a:p>
        </p:txBody>
      </p:sp>
    </p:spTree>
    <p:extLst>
      <p:ext uri="{BB962C8B-B14F-4D97-AF65-F5344CB8AC3E}">
        <p14:creationId xmlns:p14="http://schemas.microsoft.com/office/powerpoint/2010/main" val="1751120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Introduction</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779135" cy="5527962"/>
          </a:xfrm>
        </p:spPr>
        <p:txBody>
          <a:bodyPr>
            <a:noAutofit/>
          </a:bodyPr>
          <a:lstStyle/>
          <a:p>
            <a:pPr marL="457200" indent="-457200"/>
            <a:r>
              <a:rPr lang="en-US" sz="1800" dirty="0"/>
              <a:t>In today’s world, delivery companies like Amazon, Swiggy, or Zomato must serve many customers in a limited time. The main challenge is assigning </a:t>
            </a:r>
            <a:r>
              <a:rPr lang="en-US" sz="1800" b="1" dirty="0"/>
              <a:t>multiple delivery partners</a:t>
            </a:r>
            <a:r>
              <a:rPr lang="en-US" sz="1800" dirty="0"/>
              <a:t> to </a:t>
            </a:r>
            <a:r>
              <a:rPr lang="en-US" sz="1800" b="1" dirty="0"/>
              <a:t>many customers</a:t>
            </a:r>
            <a:r>
              <a:rPr lang="en-US" sz="1800" dirty="0"/>
              <a:t> within time limits. Real-world problems like </a:t>
            </a:r>
            <a:r>
              <a:rPr lang="en-US" sz="1800" b="1" dirty="0"/>
              <a:t>traffic jams, road blocks, or sudden delays</a:t>
            </a:r>
            <a:r>
              <a:rPr lang="en-US" sz="1800" dirty="0"/>
              <a:t> make it risky to rely on just </a:t>
            </a:r>
            <a:r>
              <a:rPr lang="en-US" sz="1800" b="1" dirty="0"/>
              <a:t>one route plan</a:t>
            </a:r>
            <a:r>
              <a:rPr lang="en-US" sz="1800" dirty="0"/>
              <a:t>.</a:t>
            </a:r>
          </a:p>
          <a:p>
            <a:pPr marL="457200" indent="-457200"/>
            <a:r>
              <a:rPr lang="en-US" sz="1800" dirty="0"/>
              <a:t>Our focus: </a:t>
            </a:r>
            <a:r>
              <a:rPr lang="en-US" sz="1800" b="1" dirty="0"/>
              <a:t>Generate multiple alternate routes</a:t>
            </a:r>
            <a:r>
              <a:rPr lang="en-US" sz="1800" dirty="0"/>
              <a:t> so delivery partners always have a backup.</a:t>
            </a:r>
          </a:p>
          <a:p>
            <a:pPr marL="0" indent="0">
              <a:buNone/>
            </a:pPr>
            <a:r>
              <a:rPr lang="en-US" sz="1800" b="1" dirty="0"/>
              <a:t>Example</a:t>
            </a:r>
          </a:p>
          <a:p>
            <a:pPr marL="457200" indent="-457200"/>
            <a:r>
              <a:rPr lang="en-US" sz="1800" dirty="0"/>
              <a:t>Imagine </a:t>
            </a:r>
            <a:r>
              <a:rPr lang="en-US" sz="1800" b="1" dirty="0"/>
              <a:t>1 depot (warehouse)</a:t>
            </a:r>
            <a:r>
              <a:rPr lang="en-US" sz="1800" dirty="0"/>
              <a:t>, </a:t>
            </a:r>
            <a:r>
              <a:rPr lang="en-US" sz="1800" b="1" dirty="0"/>
              <a:t>2 delivery partners</a:t>
            </a:r>
            <a:r>
              <a:rPr lang="en-US" sz="1800" dirty="0"/>
              <a:t>, and </a:t>
            </a:r>
            <a:r>
              <a:rPr lang="en-US" sz="1800" b="1" dirty="0"/>
              <a:t>6 customers</a:t>
            </a:r>
            <a:r>
              <a:rPr lang="en-US" sz="1800" dirty="0"/>
              <a:t>.</a:t>
            </a:r>
          </a:p>
          <a:p>
            <a:pPr marL="457200" indent="-457200"/>
            <a:r>
              <a:rPr lang="en-IN" sz="1800" dirty="0"/>
              <a:t>Normal plan: Partner 1 → C1 → C2 → C3 → Depot.</a:t>
            </a:r>
          </a:p>
          <a:p>
            <a:pPr marL="457200" indent="-457200"/>
            <a:r>
              <a:rPr lang="en-US" sz="1800" dirty="0"/>
              <a:t>If road to </a:t>
            </a:r>
            <a:r>
              <a:rPr lang="en-US" sz="1800" b="1" dirty="0"/>
              <a:t>C2</a:t>
            </a:r>
            <a:r>
              <a:rPr lang="en-US" sz="1800" dirty="0"/>
              <a:t> is blocked → traditional method gets stuck.</a:t>
            </a:r>
          </a:p>
          <a:p>
            <a:pPr marL="457200" indent="-457200"/>
            <a:r>
              <a:rPr lang="en-US" sz="1800" dirty="0"/>
              <a:t>Our system → instantly switches to another valid route (e.g., C3 → C2 → C1).</a:t>
            </a:r>
          </a:p>
          <a:p>
            <a:pPr marL="0" indent="0">
              <a:buNone/>
            </a:pPr>
            <a:r>
              <a:rPr lang="en-IN" sz="1800" b="1" dirty="0"/>
              <a:t>Advantages</a:t>
            </a:r>
          </a:p>
          <a:p>
            <a:r>
              <a:rPr lang="en-IN" sz="1800" dirty="0"/>
              <a:t>On-time deliveries → happy customers. </a:t>
            </a:r>
          </a:p>
          <a:p>
            <a:r>
              <a:rPr lang="en-IN" sz="1800" dirty="0"/>
              <a:t>Reduces </a:t>
            </a:r>
            <a:r>
              <a:rPr lang="en-IN" sz="1800" b="1" dirty="0"/>
              <a:t>operational cost</a:t>
            </a:r>
            <a:r>
              <a:rPr lang="en-IN" sz="1800" dirty="0"/>
              <a:t>.</a:t>
            </a:r>
          </a:p>
          <a:p>
            <a:r>
              <a:rPr lang="en-US" sz="1800" dirty="0"/>
              <a:t>Saves </a:t>
            </a:r>
            <a:r>
              <a:rPr lang="en-US" sz="1800" b="1" dirty="0"/>
              <a:t>fuel &amp; time</a:t>
            </a:r>
            <a:r>
              <a:rPr lang="en-US" sz="1800" dirty="0"/>
              <a:t> → less wastage.</a:t>
            </a:r>
          </a:p>
          <a:p>
            <a:r>
              <a:rPr lang="en-US" sz="1800" dirty="0"/>
              <a:t>Works for </a:t>
            </a:r>
            <a:r>
              <a:rPr lang="en-US" sz="1800" b="1" dirty="0"/>
              <a:t>multiple delivery partners</a:t>
            </a:r>
            <a:r>
              <a:rPr lang="en-US" sz="1800" dirty="0"/>
              <a:t>.</a:t>
            </a:r>
          </a:p>
          <a:p>
            <a:r>
              <a:rPr lang="en-IN" sz="1800" dirty="0"/>
              <a:t>Hybrid system = </a:t>
            </a:r>
            <a:r>
              <a:rPr lang="en-IN" sz="1800" b="1" dirty="0"/>
              <a:t>Classical (valid routes) + Quantum (multiple options in parallel)</a:t>
            </a:r>
            <a:r>
              <a:rPr lang="en-IN" sz="1800" dirty="0"/>
              <a:t>.</a:t>
            </a:r>
          </a:p>
        </p:txBody>
      </p:sp>
      <p:sp>
        <p:nvSpPr>
          <p:cNvPr id="12" name="Rectangle 9">
            <a:extLst>
              <a:ext uri="{FF2B5EF4-FFF2-40B4-BE49-F238E27FC236}">
                <a16:creationId xmlns:a16="http://schemas.microsoft.com/office/drawing/2014/main" id="{1BA309FD-D765-1F13-3D20-0EC9F795C895}"/>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6781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3C10D-F6C7-20E5-A527-B86A72275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CDA9B-67D1-FC4E-DF34-FF927546AF5F}"/>
              </a:ext>
            </a:extLst>
          </p:cNvPr>
          <p:cNvSpPr>
            <a:spLocks noGrp="1"/>
          </p:cNvSpPr>
          <p:nvPr>
            <p:ph type="title"/>
          </p:nvPr>
        </p:nvSpPr>
        <p:spPr/>
        <p:txBody>
          <a:bodyPr/>
          <a:lstStyle/>
          <a:p>
            <a:r>
              <a:rPr lang="en-US" dirty="0"/>
              <a:t>Existing Solution And Drawbacks</a:t>
            </a:r>
            <a:endParaRPr lang="en-IN" dirty="0"/>
          </a:p>
        </p:txBody>
      </p:sp>
      <p:sp>
        <p:nvSpPr>
          <p:cNvPr id="6" name="Content Placeholder 2">
            <a:extLst>
              <a:ext uri="{FF2B5EF4-FFF2-40B4-BE49-F238E27FC236}">
                <a16:creationId xmlns:a16="http://schemas.microsoft.com/office/drawing/2014/main" id="{D0303AB1-1239-77A0-BC54-3F9119CE260E}"/>
              </a:ext>
            </a:extLst>
          </p:cNvPr>
          <p:cNvSpPr>
            <a:spLocks noGrp="1"/>
          </p:cNvSpPr>
          <p:nvPr>
            <p:ph idx="1"/>
          </p:nvPr>
        </p:nvSpPr>
        <p:spPr>
          <a:xfrm>
            <a:off x="199505" y="1097279"/>
            <a:ext cx="11779135" cy="5527962"/>
          </a:xfrm>
        </p:spPr>
        <p:txBody>
          <a:bodyPr>
            <a:noAutofit/>
          </a:bodyPr>
          <a:lstStyle/>
          <a:p>
            <a:pPr marL="457200" indent="-457200"/>
            <a:r>
              <a:rPr lang="en-US" sz="1800" dirty="0"/>
              <a:t>Researchers have tested </a:t>
            </a:r>
            <a:r>
              <a:rPr lang="en-US" sz="1800" b="1" dirty="0"/>
              <a:t>quantum computers</a:t>
            </a:r>
            <a:r>
              <a:rPr lang="en-US" sz="1800" dirty="0"/>
              <a:t> for delivery routing </a:t>
            </a:r>
            <a:r>
              <a:rPr lang="en-US" sz="1800" dirty="0" err="1"/>
              <a:t>problems.Our</a:t>
            </a:r>
            <a:r>
              <a:rPr lang="en-US" sz="1800" dirty="0"/>
              <a:t> focus: </a:t>
            </a:r>
            <a:r>
              <a:rPr lang="en-US" sz="1800" b="1" dirty="0"/>
              <a:t>Generate multiple alternate routes</a:t>
            </a:r>
            <a:r>
              <a:rPr lang="en-US" sz="1800" dirty="0"/>
              <a:t> so delivery partners always have a backup.</a:t>
            </a:r>
          </a:p>
          <a:p>
            <a:pPr marL="457200" indent="-457200"/>
            <a:r>
              <a:rPr lang="en-US" sz="1800" dirty="0"/>
              <a:t>Two main platforms were used: </a:t>
            </a:r>
            <a:r>
              <a:rPr lang="en-US" sz="1800" b="1" dirty="0"/>
              <a:t>D-Wave</a:t>
            </a:r>
            <a:r>
              <a:rPr lang="en-US" sz="1800" dirty="0"/>
              <a:t> (quantum solver) and </a:t>
            </a:r>
            <a:r>
              <a:rPr lang="en-US" sz="1800" b="1" dirty="0"/>
              <a:t>IBM Quantum</a:t>
            </a:r>
            <a:r>
              <a:rPr lang="en-US" sz="1800" dirty="0"/>
              <a:t> (circuit-based).</a:t>
            </a:r>
          </a:p>
          <a:p>
            <a:pPr marL="457200" indent="-457200"/>
            <a:r>
              <a:rPr lang="en-US" sz="1800" dirty="0"/>
              <a:t>Both could suggest delivery routes, but only for small  problem sizes.</a:t>
            </a:r>
          </a:p>
          <a:p>
            <a:pPr marL="457200" indent="-457200"/>
            <a:r>
              <a:rPr lang="en-US" sz="1800" dirty="0"/>
              <a:t>The routes were often incomplete or needed extra adjustments and fine - tuning.</a:t>
            </a:r>
          </a:p>
          <a:p>
            <a:pPr marL="457200" indent="-457200"/>
            <a:r>
              <a:rPr lang="en-US" sz="1800" dirty="0"/>
              <a:t>In the end, classical computers were still required to repair and validate the results.</a:t>
            </a:r>
          </a:p>
          <a:p>
            <a:pPr marL="0" indent="0">
              <a:buNone/>
            </a:pPr>
            <a:r>
              <a:rPr lang="en-US" sz="1800" b="1" dirty="0"/>
              <a:t>Drawbacks</a:t>
            </a:r>
          </a:p>
          <a:p>
            <a:pPr marL="457200" indent="-457200"/>
            <a:r>
              <a:rPr lang="en-US" sz="1800" dirty="0"/>
              <a:t>Quantum methods work only for </a:t>
            </a:r>
            <a:r>
              <a:rPr lang="en-US" sz="1800" b="1" dirty="0"/>
              <a:t>small delivery networks</a:t>
            </a:r>
            <a:r>
              <a:rPr lang="en-US" sz="1800" dirty="0"/>
              <a:t> (few customers).</a:t>
            </a:r>
          </a:p>
          <a:p>
            <a:pPr marL="457200" indent="-457200"/>
            <a:r>
              <a:rPr lang="en-US" sz="1800" dirty="0"/>
              <a:t>Many solutions were </a:t>
            </a:r>
            <a:r>
              <a:rPr lang="en-US" sz="1800" b="1" dirty="0"/>
              <a:t>incomplete or invalid</a:t>
            </a:r>
            <a:r>
              <a:rPr lang="en-US" sz="1800" dirty="0"/>
              <a:t>, needing repairs.</a:t>
            </a:r>
            <a:endParaRPr lang="en-IN" sz="1800" dirty="0"/>
          </a:p>
          <a:p>
            <a:pPr marL="457200" indent="-457200"/>
            <a:r>
              <a:rPr lang="en-US" sz="1800" dirty="0"/>
              <a:t>Results were </a:t>
            </a:r>
            <a:r>
              <a:rPr lang="en-US" sz="1800" b="1" dirty="0"/>
              <a:t>unstable </a:t>
            </a:r>
            <a:r>
              <a:rPr lang="en-US" sz="1800" dirty="0"/>
              <a:t>– changing parameters gave very different outcomes.</a:t>
            </a:r>
          </a:p>
          <a:p>
            <a:pPr marL="457200" indent="-457200"/>
            <a:r>
              <a:rPr lang="en-US" sz="1800" dirty="0"/>
              <a:t>Still </a:t>
            </a:r>
            <a:r>
              <a:rPr lang="en-US" sz="1800" b="1" dirty="0"/>
              <a:t>dependent on classical computers </a:t>
            </a:r>
            <a:r>
              <a:rPr lang="en-US" sz="1800" dirty="0"/>
              <a:t>to clean up and finalize routes.</a:t>
            </a:r>
          </a:p>
          <a:p>
            <a:r>
              <a:rPr lang="en-US" sz="1800" dirty="0"/>
              <a:t>    No focus on giving </a:t>
            </a:r>
            <a:r>
              <a:rPr lang="en-US" sz="1800" b="1" dirty="0"/>
              <a:t>alternate routes</a:t>
            </a:r>
            <a:r>
              <a:rPr lang="en-US" sz="1800" dirty="0"/>
              <a:t> for traffic or delays → only one solution.</a:t>
            </a:r>
          </a:p>
        </p:txBody>
      </p:sp>
      <p:sp>
        <p:nvSpPr>
          <p:cNvPr id="12" name="Rectangle 9">
            <a:extLst>
              <a:ext uri="{FF2B5EF4-FFF2-40B4-BE49-F238E27FC236}">
                <a16:creationId xmlns:a16="http://schemas.microsoft.com/office/drawing/2014/main" id="{DA9C21B6-41E8-DEE6-DDE2-79063B82518F}"/>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3587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8ED-E8F7-40CD-8D41-BF01C7A7853D}"/>
              </a:ext>
            </a:extLst>
          </p:cNvPr>
          <p:cNvSpPr>
            <a:spLocks noGrp="1"/>
          </p:cNvSpPr>
          <p:nvPr>
            <p:ph type="title"/>
          </p:nvPr>
        </p:nvSpPr>
        <p:spPr/>
        <p:txBody>
          <a:bodyPr/>
          <a:lstStyle/>
          <a:p>
            <a:r>
              <a:rPr lang="en-US" dirty="0"/>
              <a:t>Proposed System</a:t>
            </a:r>
            <a:endParaRPr lang="en-IN" dirty="0"/>
          </a:p>
        </p:txBody>
      </p:sp>
      <p:sp>
        <p:nvSpPr>
          <p:cNvPr id="7" name="Content Placeholder 2">
            <a:extLst>
              <a:ext uri="{FF2B5EF4-FFF2-40B4-BE49-F238E27FC236}">
                <a16:creationId xmlns:a16="http://schemas.microsoft.com/office/drawing/2014/main" id="{2798DA22-7CB2-43B1-8B38-789CEC28484F}"/>
              </a:ext>
            </a:extLst>
          </p:cNvPr>
          <p:cNvSpPr>
            <a:spLocks noGrp="1"/>
          </p:cNvSpPr>
          <p:nvPr>
            <p:ph idx="1"/>
          </p:nvPr>
        </p:nvSpPr>
        <p:spPr>
          <a:xfrm>
            <a:off x="199505" y="1097279"/>
            <a:ext cx="11779135" cy="5394960"/>
          </a:xfrm>
        </p:spPr>
        <p:txBody>
          <a:bodyPr>
            <a:normAutofit/>
          </a:bodyPr>
          <a:lstStyle/>
          <a:p>
            <a:pPr marL="457200" indent="-457200"/>
            <a:r>
              <a:rPr lang="en-US" sz="2400" b="1" dirty="0"/>
              <a:t>Scaling / Feasibility:</a:t>
            </a:r>
            <a:r>
              <a:rPr lang="en-US" sz="2400" dirty="0"/>
              <a:t> Cluster deliveries (6–10 stops) → quantum solves manageable subproblems.</a:t>
            </a:r>
          </a:p>
          <a:p>
            <a:pPr marL="457200" indent="-457200"/>
            <a:r>
              <a:rPr lang="en-US" sz="2400" b="1" dirty="0"/>
              <a:t>Multiple Alternate Routes:</a:t>
            </a:r>
            <a:r>
              <a:rPr lang="en-US" sz="2400" dirty="0"/>
              <a:t> Generate several candidate routes per delivery partner; </a:t>
            </a:r>
            <a:r>
              <a:rPr lang="en-IN" sz="2400" dirty="0"/>
              <a:t>QAOA + classical repair </a:t>
            </a:r>
            <a:r>
              <a:rPr lang="en-US" sz="2400" dirty="0"/>
              <a:t>→ ready-to-switch solutions if delays occur.</a:t>
            </a:r>
          </a:p>
          <a:p>
            <a:pPr marL="457200" indent="-457200"/>
            <a:r>
              <a:rPr lang="en-US" sz="2400" b="1" dirty="0"/>
              <a:t>Time-Window Compliance:</a:t>
            </a:r>
            <a:r>
              <a:rPr lang="en-US" sz="2400" dirty="0"/>
              <a:t> Classical pruning (CP-SAT) → quantum works only on feasible routes.</a:t>
            </a:r>
          </a:p>
          <a:p>
            <a:pPr marL="457200" indent="-457200"/>
            <a:r>
              <a:rPr lang="en-US" sz="2400" b="1" dirty="0"/>
              <a:t>Penalty Stability:</a:t>
            </a:r>
            <a:r>
              <a:rPr lang="en-US" sz="2400" dirty="0"/>
              <a:t> Normalize costs + auto-tune penalties </a:t>
            </a:r>
            <a:r>
              <a:rPr lang="en-IN" sz="2400" dirty="0"/>
              <a:t>→ consistent performance.</a:t>
            </a:r>
          </a:p>
          <a:p>
            <a:pPr marL="457200" indent="-457200"/>
            <a:r>
              <a:rPr lang="en-US" sz="2400" b="1" dirty="0"/>
              <a:t>Iterative Repair:</a:t>
            </a:r>
            <a:r>
              <a:rPr lang="en-US" sz="2400" dirty="0"/>
              <a:t> Repaired solutions feed next quantum iteration</a:t>
            </a:r>
            <a:r>
              <a:rPr lang="en-IN" sz="2400" dirty="0"/>
              <a:t>→ continuous improvement.</a:t>
            </a:r>
          </a:p>
          <a:p>
            <a:pPr marL="457200" indent="-457200"/>
            <a:r>
              <a:rPr lang="en-IN" sz="2400" b="1" dirty="0"/>
              <a:t>Hybrid Flow:</a:t>
            </a:r>
            <a:r>
              <a:rPr lang="en-IN" sz="2400" dirty="0"/>
              <a:t> Quantum → route selection | Classical → enforce constraints | Repair → local improvements → practical end-to-end delivery optimization.</a:t>
            </a:r>
            <a:endParaRPr lang="en-US" sz="2400" dirty="0"/>
          </a:p>
        </p:txBody>
      </p:sp>
    </p:spTree>
    <p:extLst>
      <p:ext uri="{BB962C8B-B14F-4D97-AF65-F5344CB8AC3E}">
        <p14:creationId xmlns:p14="http://schemas.microsoft.com/office/powerpoint/2010/main" val="3465084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71C01-5208-489A-A3A6-AF3CB24A4AB4}"/>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2C39AA8B-A301-49BF-9DA8-22F614053810}"/>
              </a:ext>
            </a:extLst>
          </p:cNvPr>
          <p:cNvSpPr>
            <a:spLocks noGrp="1"/>
          </p:cNvSpPr>
          <p:nvPr>
            <p:ph idx="1"/>
          </p:nvPr>
        </p:nvSpPr>
        <p:spPr/>
        <p:txBody>
          <a:bodyPr>
            <a:normAutofit/>
          </a:bodyPr>
          <a:lstStyle/>
          <a:p>
            <a:r>
              <a:rPr lang="en-US" sz="2400" dirty="0"/>
              <a:t>[1].“</a:t>
            </a:r>
            <a:r>
              <a:rPr lang="en-US" sz="2400" b="1" dirty="0"/>
              <a:t>Quantum-Assisted Vehicle </a:t>
            </a:r>
            <a:r>
              <a:rPr lang="en-US" sz="2400" b="1" dirty="0" err="1"/>
              <a:t>Routing:Realizing</a:t>
            </a:r>
            <a:r>
              <a:rPr lang="en-US" sz="2400" b="1" dirty="0"/>
              <a:t> QAOA-based Approach on Gate-Based Quantum Computer”</a:t>
            </a:r>
            <a:r>
              <a:rPr lang="en-IN" sz="2400" b="1" dirty="0"/>
              <a:t>-</a:t>
            </a:r>
            <a:r>
              <a:rPr lang="en-IN" sz="2400" dirty="0"/>
              <a:t>TALHA AZFAR, OSAMA MUHAMMAD RAISUDDIN, RUIMIN KE∗ , and JOSÉ HOLGUÍNVERAS, Rensselaer Polytechnic Institute, USA.10 September 2025.</a:t>
            </a:r>
          </a:p>
          <a:p>
            <a:r>
              <a:rPr lang="en-IN" sz="2400" dirty="0"/>
              <a:t>[2].</a:t>
            </a:r>
            <a:r>
              <a:rPr lang="en-US" sz="2400" dirty="0"/>
              <a:t>“</a:t>
            </a:r>
            <a:r>
              <a:rPr lang="en-US" sz="2400" b="1" dirty="0"/>
              <a:t>Advanced Quantum Annealing Approach to Vehicle Routing Problems with Time Windows”-</a:t>
            </a:r>
            <a:r>
              <a:rPr lang="en-IN" sz="2400" dirty="0"/>
              <a:t> James B. Holliday</a:t>
            </a:r>
            <a:r>
              <a:rPr lang="en-IN" sz="2400" i="1" dirty="0"/>
              <a:t>∗,</a:t>
            </a:r>
            <a:r>
              <a:rPr lang="en-IN" sz="2400" dirty="0"/>
              <a:t> Darren Blount</a:t>
            </a:r>
            <a:r>
              <a:rPr lang="en-IN" sz="2400" i="1" dirty="0"/>
              <a:t>∗,</a:t>
            </a:r>
            <a:r>
              <a:rPr lang="en-IN" sz="2400" dirty="0"/>
              <a:t> Eneko Osaba, Khoa Luu</a:t>
            </a:r>
            <a:r>
              <a:rPr lang="en-IN" sz="2400" i="1" dirty="0"/>
              <a:t>∗,</a:t>
            </a:r>
            <a:r>
              <a:rPr lang="en-US" sz="2400" i="1" dirty="0"/>
              <a:t> University of Arkansas ,</a:t>
            </a:r>
            <a:r>
              <a:rPr lang="en-US" sz="2400" dirty="0"/>
              <a:t>Fayetteville, AR, USA.31 March 2025.</a:t>
            </a:r>
          </a:p>
          <a:p>
            <a:pPr marL="577850" indent="-577850">
              <a:buNone/>
            </a:pPr>
            <a:endParaRPr lang="en-US" sz="2400" dirty="0"/>
          </a:p>
        </p:txBody>
      </p:sp>
    </p:spTree>
    <p:extLst>
      <p:ext uri="{BB962C8B-B14F-4D97-AF65-F5344CB8AC3E}">
        <p14:creationId xmlns:p14="http://schemas.microsoft.com/office/powerpoint/2010/main" val="788754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920484"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Any Queries?</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3513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496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2220</TotalTime>
  <Words>885</Words>
  <Application>Microsoft Office PowerPoint</Application>
  <PresentationFormat>Widescreen</PresentationFormat>
  <Paragraphs>69</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Courier New</vt:lpstr>
      <vt:lpstr>Times New Roman</vt:lpstr>
      <vt:lpstr>Wingdings</vt:lpstr>
      <vt:lpstr>Custom Design</vt:lpstr>
      <vt:lpstr>PowerPoint Presentation</vt:lpstr>
      <vt:lpstr>Contents</vt:lpstr>
      <vt:lpstr>Abstract</vt:lpstr>
      <vt:lpstr>Introduction</vt:lpstr>
      <vt:lpstr>Existing Solution And Drawbacks</vt:lpstr>
      <vt:lpstr>Proposed System</vt:lpstr>
      <vt:lpstr>Reference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Suraiah Khaisar</cp:lastModifiedBy>
  <cp:revision>119</cp:revision>
  <dcterms:created xsi:type="dcterms:W3CDTF">2019-06-11T05:35:51Z</dcterms:created>
  <dcterms:modified xsi:type="dcterms:W3CDTF">2025-09-19T17:48:50Z</dcterms:modified>
</cp:coreProperties>
</file>