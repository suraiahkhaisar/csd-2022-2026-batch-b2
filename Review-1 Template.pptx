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handoutMasterIdLst>
    <p:handoutMasterId r:id="rId17"/>
  </p:handoutMasterIdLst>
  <p:sldIdLst>
    <p:sldId id="256" r:id="rId2"/>
    <p:sldId id="289" r:id="rId3"/>
    <p:sldId id="273" r:id="rId4"/>
    <p:sldId id="287" r:id="rId5"/>
    <p:sldId id="281" r:id="rId6"/>
    <p:sldId id="282" r:id="rId7"/>
    <p:sldId id="292" r:id="rId8"/>
    <p:sldId id="293" r:id="rId9"/>
    <p:sldId id="288" r:id="rId10"/>
    <p:sldId id="290" r:id="rId11"/>
    <p:sldId id="291" r:id="rId12"/>
    <p:sldId id="277" r:id="rId13"/>
    <p:sldId id="294"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48" autoAdjust="0"/>
    <p:restoredTop sz="94660"/>
  </p:normalViewPr>
  <p:slideViewPr>
    <p:cSldViewPr snapToGrid="0">
      <p:cViewPr varScale="1">
        <p:scale>
          <a:sx n="79" d="100"/>
          <a:sy n="79" d="100"/>
        </p:scale>
        <p:origin x="72" y="77"/>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15-12-2025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15-12-2025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Optimizing Delivery Routes With Quantum Algorithms</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B - 02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6095991"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R Suraiah Khaisar</a:t>
            </a:r>
          </a:p>
          <a:p>
            <a:pPr>
              <a:spcBef>
                <a:spcPts val="300"/>
              </a:spcBef>
            </a:pPr>
            <a:r>
              <a:rPr lang="en-US" sz="1200" b="0" dirty="0"/>
              <a:t>Roll No. 224G1A3298</a:t>
            </a:r>
          </a:p>
        </p:txBody>
      </p:sp>
      <p:sp>
        <p:nvSpPr>
          <p:cNvPr id="6" name="Subtitle 11"/>
          <p:cNvSpPr txBox="1"/>
          <p:nvPr/>
        </p:nvSpPr>
        <p:spPr>
          <a:xfrm>
            <a:off x="3759654" y="2475580"/>
            <a:ext cx="4672674"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200"/>
              </a:spcBef>
            </a:pPr>
            <a:r>
              <a:rPr lang="en-US" sz="2400" b="0" dirty="0">
                <a:effectLst>
                  <a:outerShdw blurRad="38100" dist="38100" dir="2700000" algn="tl">
                    <a:srgbClr val="000000">
                      <a:alpha val="43137"/>
                    </a:srgbClr>
                  </a:outerShdw>
                </a:effectLst>
              </a:rPr>
              <a:t>              Mr. K Venkatesh </a:t>
            </a:r>
            <a:r>
              <a:rPr lang="en-US" sz="2400" b="0" baseline="-25000" dirty="0">
                <a:effectLst>
                  <a:outerShdw blurRad="38100" dist="38100" dir="2700000" algn="tl">
                    <a:srgbClr val="000000">
                      <a:alpha val="43137"/>
                    </a:srgbClr>
                  </a:outerShdw>
                </a:effectLst>
              </a:rPr>
              <a:t>M. Tech.(</a:t>
            </a:r>
            <a:r>
              <a:rPr lang="en-US" sz="2400" b="0" baseline="-25000" dirty="0" err="1">
                <a:effectLst>
                  <a:outerShdw blurRad="38100" dist="38100" dir="2700000" algn="tl">
                    <a:srgbClr val="000000">
                      <a:alpha val="43137"/>
                    </a:srgbClr>
                  </a:outerShdw>
                </a:effectLst>
              </a:rPr>
              <a:t>Ph.D</a:t>
            </a:r>
            <a:r>
              <a:rPr lang="en-US" sz="2400" b="0" baseline="-25000" dirty="0">
                <a:effectLst>
                  <a:outerShdw blurRad="38100" dist="38100" dir="2700000" algn="tl">
                    <a:srgbClr val="000000">
                      <a:alpha val="43137"/>
                    </a:srgbClr>
                  </a:outerShdw>
                </a:effectLst>
              </a:rPr>
              <a:t>)</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Assistant Professor</a:t>
            </a:r>
          </a:p>
          <a:p>
            <a:pPr>
              <a:spcBef>
                <a:spcPts val="200"/>
              </a:spcBef>
            </a:pPr>
            <a:endParaRPr lang="en-IN" sz="1400" b="0" dirty="0"/>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Autonomous</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2025-2026</a:t>
            </a:r>
            <a:endParaRPr lang="en-US" sz="2500" b="0" dirty="0"/>
          </a:p>
          <a:p>
            <a:endParaRPr lang="en-IN" b="0" dirty="0"/>
          </a:p>
        </p:txBody>
      </p:sp>
      <p:sp>
        <p:nvSpPr>
          <p:cNvPr id="12" name="Subtitle 11"/>
          <p:cNvSpPr txBox="1"/>
          <p:nvPr/>
        </p:nvSpPr>
        <p:spPr>
          <a:xfrm>
            <a:off x="3574384"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N Naga Chaitanya</a:t>
            </a:r>
          </a:p>
          <a:p>
            <a:pPr>
              <a:spcBef>
                <a:spcPts val="300"/>
              </a:spcBef>
            </a:pPr>
            <a:r>
              <a:rPr lang="en-US" sz="1200" b="0" dirty="0"/>
              <a:t>Roll No. 224G1A3294</a:t>
            </a:r>
          </a:p>
        </p:txBody>
      </p:sp>
      <p:sp>
        <p:nvSpPr>
          <p:cNvPr id="13" name="Subtitle 11"/>
          <p:cNvSpPr txBox="1"/>
          <p:nvPr/>
        </p:nvSpPr>
        <p:spPr>
          <a:xfrm>
            <a:off x="8617598"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P </a:t>
            </a:r>
            <a:r>
              <a:rPr lang="en-US" sz="2600" b="0" dirty="0" err="1">
                <a:effectLst>
                  <a:outerShdw blurRad="38100" dist="38100" dir="2700000" algn="tl">
                    <a:srgbClr val="000000">
                      <a:alpha val="43137"/>
                    </a:srgbClr>
                  </a:outerShdw>
                </a:effectLst>
              </a:rPr>
              <a:t>Venkatanaveen</a:t>
            </a:r>
            <a:endParaRPr lang="en-US" sz="2600" b="0" dirty="0">
              <a:effectLst>
                <a:outerShdw blurRad="38100" dist="38100" dir="2700000" algn="tl">
                  <a:srgbClr val="000000">
                    <a:alpha val="43137"/>
                  </a:srgbClr>
                </a:outerShdw>
              </a:effectLst>
            </a:endParaRPr>
          </a:p>
          <a:p>
            <a:pPr>
              <a:spcBef>
                <a:spcPts val="300"/>
              </a:spcBef>
            </a:pPr>
            <a:r>
              <a:rPr lang="en-US" sz="1200" b="0" dirty="0"/>
              <a:t>Roll No. 2244G1A32B1</a:t>
            </a:r>
          </a:p>
        </p:txBody>
      </p:sp>
      <p:sp>
        <p:nvSpPr>
          <p:cNvPr id="14" name="Subtitle 11"/>
          <p:cNvSpPr txBox="1"/>
          <p:nvPr/>
        </p:nvSpPr>
        <p:spPr>
          <a:xfrm>
            <a:off x="1191460"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B Arjun Dev</a:t>
            </a:r>
          </a:p>
          <a:p>
            <a:pPr>
              <a:spcBef>
                <a:spcPts val="300"/>
              </a:spcBef>
            </a:pPr>
            <a:r>
              <a:rPr lang="en-US" sz="1200" b="0" dirty="0"/>
              <a:t>Roll No. 234G5A3202</a:t>
            </a:r>
          </a:p>
        </p:txBody>
      </p:sp>
      <p:sp>
        <p:nvSpPr>
          <p:cNvPr id="17"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Optimizing Delivery Routes With Quantum Algorithms</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4154" y="3477046"/>
            <a:ext cx="1843673"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FAA6D-7637-5E88-CF28-4D2EF60270E3}"/>
              </a:ext>
            </a:extLst>
          </p:cNvPr>
          <p:cNvSpPr>
            <a:spLocks noGrp="1"/>
          </p:cNvSpPr>
          <p:nvPr>
            <p:ph type="title"/>
          </p:nvPr>
        </p:nvSpPr>
        <p:spPr/>
        <p:txBody>
          <a:bodyPr/>
          <a:lstStyle/>
          <a:p>
            <a:r>
              <a:rPr lang="en-US" dirty="0"/>
              <a:t>Comments </a:t>
            </a:r>
            <a:endParaRPr lang="en-IN" dirty="0"/>
          </a:p>
        </p:txBody>
      </p:sp>
      <p:sp>
        <p:nvSpPr>
          <p:cNvPr id="3" name="Content Placeholder 2">
            <a:extLst>
              <a:ext uri="{FF2B5EF4-FFF2-40B4-BE49-F238E27FC236}">
                <a16:creationId xmlns:a16="http://schemas.microsoft.com/office/drawing/2014/main" id="{6524DFE5-F7A5-9ADB-AFD3-08EBD7A4FB1F}"/>
              </a:ext>
            </a:extLst>
          </p:cNvPr>
          <p:cNvSpPr>
            <a:spLocks noGrp="1"/>
          </p:cNvSpPr>
          <p:nvPr>
            <p:ph idx="1"/>
          </p:nvPr>
        </p:nvSpPr>
        <p:spPr/>
        <p:txBody>
          <a:bodyPr/>
          <a:lstStyle/>
          <a:p>
            <a:r>
              <a:rPr lang="en-US" dirty="0"/>
              <a:t>Review – 0 comments</a:t>
            </a:r>
          </a:p>
          <a:p>
            <a:pPr>
              <a:buFont typeface="Wingdings" panose="05000000000000000000" pitchFamily="2" charset="2"/>
              <a:buChar char="§"/>
            </a:pPr>
            <a:r>
              <a:rPr lang="en-US" sz="2400" dirty="0"/>
              <a:t>What you will do when you choose an alternate path that consumes more fuel as you mentioned your system generates alternate paths when it faces and obstacle?</a:t>
            </a:r>
          </a:p>
          <a:p>
            <a:pPr>
              <a:buFont typeface="Wingdings" panose="05000000000000000000" pitchFamily="2" charset="2"/>
              <a:buChar char="§"/>
            </a:pPr>
            <a:r>
              <a:rPr lang="en-IN" sz="2400" dirty="0"/>
              <a:t>What is the difference between the existing solution and your approach or solution as similar system exist?</a:t>
            </a:r>
          </a:p>
          <a:p>
            <a:pPr marL="0" indent="0">
              <a:buNone/>
            </a:pPr>
            <a:endParaRPr lang="en-IN" dirty="0"/>
          </a:p>
        </p:txBody>
      </p:sp>
      <p:sp>
        <p:nvSpPr>
          <p:cNvPr id="4" name="TextBox 3">
            <a:extLst>
              <a:ext uri="{FF2B5EF4-FFF2-40B4-BE49-F238E27FC236}">
                <a16:creationId xmlns:a16="http://schemas.microsoft.com/office/drawing/2014/main" id="{49EAC6D0-633D-68AF-FBDC-3379CE227988}"/>
              </a:ext>
            </a:extLst>
          </p:cNvPr>
          <p:cNvSpPr txBox="1"/>
          <p:nvPr/>
        </p:nvSpPr>
        <p:spPr>
          <a:xfrm>
            <a:off x="301556" y="6590220"/>
            <a:ext cx="6692630"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535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endParaRPr lang="en-IN" dirty="0"/>
          </a:p>
        </p:txBody>
      </p:sp>
      <p:sp>
        <p:nvSpPr>
          <p:cNvPr id="3" name="Content Placeholder 2"/>
          <p:cNvSpPr>
            <a:spLocks noGrp="1"/>
          </p:cNvSpPr>
          <p:nvPr>
            <p:ph idx="1"/>
          </p:nvPr>
        </p:nvSpPr>
        <p:spPr/>
        <p:txBody>
          <a:bodyPr/>
          <a:lstStyle/>
          <a:p>
            <a:pPr marL="462280" indent="-462280">
              <a:buBlip>
                <a:blip r:embed="rId2">
                  <a:extLst>
                    <a:ext uri="{96DAC541-7B7A-43D3-8B79-37D633B846F1}">
                      <asvg:svgBlip xmlns:asvg="http://schemas.microsoft.com/office/drawing/2016/SVG/main" r:embed="rId3"/>
                    </a:ext>
                  </a:extLst>
                </a:blip>
              </a:buBlip>
            </a:pPr>
            <a:r>
              <a:rPr lang="en-US" dirty="0"/>
              <a:t>Abstract</a:t>
            </a:r>
          </a:p>
          <a:p>
            <a:pPr marL="462280" indent="-462280">
              <a:buBlip>
                <a:blip r:embed="rId2">
                  <a:extLst>
                    <a:ext uri="{96DAC541-7B7A-43D3-8B79-37D633B846F1}">
                      <asvg:svgBlip xmlns:asvg="http://schemas.microsoft.com/office/drawing/2016/SVG/main" r:embed="rId3"/>
                    </a:ext>
                  </a:extLst>
                </a:blip>
              </a:buBlip>
            </a:pPr>
            <a:r>
              <a:rPr lang="en-US" dirty="0"/>
              <a:t>Introduction</a:t>
            </a:r>
          </a:p>
          <a:p>
            <a:pPr marL="462280" indent="-462280">
              <a:buBlip>
                <a:blip r:embed="rId2">
                  <a:extLst>
                    <a:ext uri="{96DAC541-7B7A-43D3-8B79-37D633B846F1}">
                      <asvg:svgBlip xmlns:asvg="http://schemas.microsoft.com/office/drawing/2016/SVG/main" r:embed="rId3"/>
                    </a:ext>
                  </a:extLst>
                </a:blip>
              </a:buBlip>
            </a:pPr>
            <a:r>
              <a:rPr lang="en-US" altLang="en-IN" dirty="0"/>
              <a:t>Literature Survey</a:t>
            </a:r>
          </a:p>
          <a:p>
            <a:pPr marL="462280" indent="-462280">
              <a:buBlip>
                <a:blip r:embed="rId2">
                  <a:extLst>
                    <a:ext uri="{96DAC541-7B7A-43D3-8B79-37D633B846F1}">
                      <asvg:svgBlip xmlns:asvg="http://schemas.microsoft.com/office/drawing/2016/SVG/main" r:embed="rId3"/>
                    </a:ext>
                  </a:extLst>
                </a:blip>
              </a:buBlip>
            </a:pPr>
            <a:r>
              <a:rPr lang="en-US" dirty="0"/>
              <a:t>Existing System</a:t>
            </a:r>
          </a:p>
          <a:p>
            <a:pPr marL="462280" indent="-462280">
              <a:buBlip>
                <a:blip r:embed="rId2">
                  <a:extLst>
                    <a:ext uri="{96DAC541-7B7A-43D3-8B79-37D633B846F1}">
                      <asvg:svgBlip xmlns:asvg="http://schemas.microsoft.com/office/drawing/2016/SVG/main" r:embed="rId3"/>
                    </a:ext>
                  </a:extLst>
                </a:blip>
              </a:buBlip>
            </a:pPr>
            <a:r>
              <a:rPr lang="en-US" dirty="0"/>
              <a:t>Proposed System</a:t>
            </a:r>
          </a:p>
          <a:p>
            <a:pPr marL="462280" indent="-462280">
              <a:buBlip>
                <a:blip r:embed="rId2">
                  <a:extLst>
                    <a:ext uri="{96DAC541-7B7A-43D3-8B79-37D633B846F1}">
                      <asvg:svgBlip xmlns:asvg="http://schemas.microsoft.com/office/drawing/2016/SVG/main" r:embed="rId3"/>
                    </a:ext>
                  </a:extLst>
                </a:blip>
              </a:buBlip>
            </a:pPr>
            <a:r>
              <a:rPr lang="en-US" dirty="0"/>
              <a:t>Planning and Design</a:t>
            </a:r>
            <a:endParaRPr lang="en-IN" dirty="0"/>
          </a:p>
          <a:p>
            <a:pPr marL="462280" indent="-462280">
              <a:buBlip>
                <a:blip r:embed="rId2">
                  <a:extLst>
                    <a:ext uri="{96DAC541-7B7A-43D3-8B79-37D633B846F1}">
                      <asvg:svgBlip xmlns:asvg="http://schemas.microsoft.com/office/drawing/2016/SVG/main" r:embed="rId3"/>
                    </a:ext>
                  </a:extLst>
                </a:blip>
              </a:buBlip>
            </a:pPr>
            <a:r>
              <a:rPr lang="en-IN" dirty="0"/>
              <a:t>References</a:t>
            </a:r>
            <a:endParaRPr lang="en-US" dirty="0"/>
          </a:p>
          <a:p>
            <a:pPr marL="0" indent="0">
              <a:buNone/>
            </a:pPr>
            <a:endParaRPr lang="en-IN" dirty="0"/>
          </a:p>
        </p:txBody>
      </p:sp>
      <p:sp>
        <p:nvSpPr>
          <p:cNvPr id="5" name="TextBox 4">
            <a:extLst>
              <a:ext uri="{FF2B5EF4-FFF2-40B4-BE49-F238E27FC236}">
                <a16:creationId xmlns:a16="http://schemas.microsoft.com/office/drawing/2014/main" id="{4EE3EFB0-84F0-03E2-4362-B6D28E2FB23A}"/>
              </a:ext>
            </a:extLst>
          </p:cNvPr>
          <p:cNvSpPr txBox="1"/>
          <p:nvPr/>
        </p:nvSpPr>
        <p:spPr>
          <a:xfrm>
            <a:off x="503407" y="6590220"/>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p:txBody>
          <a:bodyPr>
            <a:normAutofit/>
          </a:bodyPr>
          <a:lstStyle/>
          <a:p>
            <a:pPr marL="0" indent="0">
              <a:buNone/>
            </a:pPr>
            <a:r>
              <a:rPr lang="en-US" sz="2400" dirty="0"/>
              <a:t>This project presents a hybrid quantum–classical approach for optimizing delivery routes in dynamic environments. Traditional routing systems typically generate a single optimal route, which becomes unreliable when traffic congestion or roadblocks occur. To overcome this limitation, the proposed system generates multiple feasible delivery routes using classical heuristics and selects the optimal route using a quantum optimization algorithm. Customers are first clustered to reduce problem complexity, and candidate routes are filtered for feasibility before quantum execution. The Quantum Approximate Optimization Algorithm (QAOA) is applied to select efficient routes while maintaining stability through penalty normalization and multi-start execution. A simulation environment demonstrates continuous vehicle movement from a warehouse to customer destinations and dynamically switches to alternate routes when obstacles appear. The results show improved robustness, scalability, and adaptability compared to conventional single-route delivery systems.</a:t>
            </a:r>
            <a:endParaRPr lang="en-IN" sz="2400" dirty="0"/>
          </a:p>
        </p:txBody>
      </p:sp>
      <p:sp>
        <p:nvSpPr>
          <p:cNvPr id="6" name="TextBox 5">
            <a:extLst>
              <a:ext uri="{FF2B5EF4-FFF2-40B4-BE49-F238E27FC236}">
                <a16:creationId xmlns:a16="http://schemas.microsoft.com/office/drawing/2014/main" id="{BF40F755-754A-E706-EE17-DB4D51B7CBD3}"/>
              </a:ext>
            </a:extLst>
          </p:cNvPr>
          <p:cNvSpPr txBox="1"/>
          <p:nvPr/>
        </p:nvSpPr>
        <p:spPr>
          <a:xfrm>
            <a:off x="445042" y="6580111"/>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88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Introduction</a:t>
            </a:r>
          </a:p>
        </p:txBody>
      </p:sp>
      <p:sp>
        <p:nvSpPr>
          <p:cNvPr id="3" name="Content Placeholder 2"/>
          <p:cNvSpPr>
            <a:spLocks noGrp="1"/>
          </p:cNvSpPr>
          <p:nvPr>
            <p:ph idx="1"/>
          </p:nvPr>
        </p:nvSpPr>
        <p:spPr/>
        <p:txBody>
          <a:bodyPr>
            <a:normAutofit/>
          </a:bodyPr>
          <a:lstStyle/>
          <a:p>
            <a:r>
              <a:rPr lang="en-US" altLang="en-US" sz="2400" dirty="0"/>
              <a:t>Delivery route optimization is an important problem in logistics and transportation systems</a:t>
            </a:r>
          </a:p>
          <a:p>
            <a:r>
              <a:rPr lang="en-US" altLang="en-US" sz="2400" dirty="0"/>
              <a:t>It focuses on finding efficient routes from a warehouse to multiple customers</a:t>
            </a:r>
          </a:p>
          <a:p>
            <a:r>
              <a:rPr lang="en-US" altLang="en-US" sz="2400" dirty="0"/>
              <a:t>Efficient routing helps reduce travel time, fuel consumption, and delivery cost</a:t>
            </a:r>
          </a:p>
          <a:p>
            <a:r>
              <a:rPr lang="en-US" altLang="en-US" sz="2400" dirty="0"/>
              <a:t>Traditional routing systems usually generate only one optimal route</a:t>
            </a:r>
          </a:p>
          <a:p>
            <a:r>
              <a:rPr lang="en-US" altLang="en-US" sz="2400" dirty="0"/>
              <a:t>Real-world conditions like traffic congestion and roadblocks can disrupt this route</a:t>
            </a:r>
          </a:p>
          <a:p>
            <a:r>
              <a:rPr lang="en-US" altLang="en-US" sz="2400" dirty="0"/>
              <a:t>Quantum computing provides new techniques to explore multiple route possibilities</a:t>
            </a:r>
          </a:p>
          <a:p>
            <a:r>
              <a:rPr lang="en-US" altLang="en-US" sz="2400" dirty="0"/>
              <a:t>This project studies how quantum algorithms can assist delivery route optimization</a:t>
            </a:r>
          </a:p>
          <a:p>
            <a:pPr marL="0" indent="0">
              <a:buNone/>
            </a:pPr>
            <a:r>
              <a:rPr lang="en-US" sz="2400" b="1" dirty="0"/>
              <a:t>Example:</a:t>
            </a:r>
            <a:endParaRPr lang="en-US" sz="2400" dirty="0"/>
          </a:p>
          <a:p>
            <a:r>
              <a:rPr lang="en-US" sz="2400" dirty="0"/>
              <a:t>A delivery vehicle travels from a warehouse to 5 customers</a:t>
            </a:r>
          </a:p>
          <a:p>
            <a:r>
              <a:rPr lang="en-US" sz="2400" dirty="0"/>
              <a:t>If one road is blocked, a single-route system fails</a:t>
            </a:r>
          </a:p>
          <a:p>
            <a:r>
              <a:rPr lang="en-US" sz="2400" dirty="0"/>
              <a:t>A multi-route system can quickly switch to an alternate path</a:t>
            </a:r>
          </a:p>
          <a:p>
            <a:pPr marL="0" indent="0">
              <a:buNone/>
            </a:pPr>
            <a:endParaRPr lang="en-US" altLang="en-US" sz="2400" dirty="0"/>
          </a:p>
          <a:p>
            <a:endParaRPr lang="en-IN" sz="2400" dirty="0"/>
          </a:p>
          <a:p>
            <a:pPr marL="0" indent="0">
              <a:buNone/>
            </a:pPr>
            <a:endParaRPr lang="en-US" sz="2400" dirty="0"/>
          </a:p>
          <a:p>
            <a:endParaRPr lang="en-US" sz="2400" dirty="0"/>
          </a:p>
        </p:txBody>
      </p:sp>
      <p:sp>
        <p:nvSpPr>
          <p:cNvPr id="11" name="TextBox 10">
            <a:extLst>
              <a:ext uri="{FF2B5EF4-FFF2-40B4-BE49-F238E27FC236}">
                <a16:creationId xmlns:a16="http://schemas.microsoft.com/office/drawing/2014/main" id="{AB558080-1891-FB88-C29A-81B0882966FC}"/>
              </a:ext>
            </a:extLst>
          </p:cNvPr>
          <p:cNvSpPr txBox="1"/>
          <p:nvPr/>
        </p:nvSpPr>
        <p:spPr>
          <a:xfrm>
            <a:off x="474224" y="6589838"/>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p:cNvSpPr>
            <a:spLocks noGrp="1"/>
          </p:cNvSpPr>
          <p:nvPr>
            <p:ph idx="1"/>
          </p:nvPr>
        </p:nvSpPr>
        <p:spPr/>
        <p:txBody>
          <a:bodyPr>
            <a:normAutofit lnSpcReduction="10000"/>
          </a:bodyPr>
          <a:lstStyle/>
          <a:p>
            <a:r>
              <a:rPr lang="en-US" sz="2400" b="1" dirty="0"/>
              <a:t>Azfar et al. [1]</a:t>
            </a:r>
            <a:r>
              <a:rPr lang="en-US" sz="2400" dirty="0"/>
              <a:t> proposed a quantum-assisted approach for solving the Vehicle Routing Problem using the Quantum Approximate Optimization Algorithm (QAOA) on IBM Quantum hardware. The methodology involved encoding the routing problem as a QUBO model and solving it using shallow quantum circuits with classical parameter optimization. The findings showed that QAOA can generate feasible routes for small delivery networks and achieve performance comparable to classical solvers. However, the research gap identified is poor scalability, as solution quality and feasibility decrease rapidly when the number of delivery locations increases, limiting real-world applicability.</a:t>
            </a:r>
          </a:p>
          <a:p>
            <a:r>
              <a:rPr lang="en-US" sz="2400" b="1" dirty="0"/>
              <a:t>Holliday et al. [2]</a:t>
            </a:r>
            <a:r>
              <a:rPr lang="en-US" sz="2400" dirty="0"/>
              <a:t> presented a hybrid quantum–classical framework using D-Wave’s Constrained Quadratic Model (CQM) solver to address Vehicle Routing Problems with Time Windows. The methodology combined quantum annealing with classical heuristic repairs to correct infeasible solutions. The findings indicated that while the solver effectively reduces route cost for small instances, feasibility drops significantly for larger problems and time-window constraints are frequently violated. The research gap lies in the heavy dependence on post-processing repairs and the absence of dynamic route switching during delivery execution.</a:t>
            </a:r>
            <a:endParaRPr lang="en-US" sz="2400" dirty="0">
              <a:solidFill>
                <a:srgbClr val="FF0000"/>
              </a:solidFill>
            </a:endParaRPr>
          </a:p>
        </p:txBody>
      </p:sp>
      <p:sp>
        <p:nvSpPr>
          <p:cNvPr id="5" name="TextBox 4">
            <a:extLst>
              <a:ext uri="{FF2B5EF4-FFF2-40B4-BE49-F238E27FC236}">
                <a16:creationId xmlns:a16="http://schemas.microsoft.com/office/drawing/2014/main" id="{43E655DA-E17C-F8AA-0BA1-A1F95B064D13}"/>
              </a:ext>
            </a:extLst>
          </p:cNvPr>
          <p:cNvSpPr txBox="1"/>
          <p:nvPr/>
        </p:nvSpPr>
        <p:spPr>
          <a:xfrm>
            <a:off x="581227" y="6606769"/>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9FDE-243F-A034-F195-2C17035789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5C788-4A8B-7A1B-B61E-84D5356483DE}"/>
              </a:ext>
            </a:extLst>
          </p:cNvPr>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a:extLst>
              <a:ext uri="{FF2B5EF4-FFF2-40B4-BE49-F238E27FC236}">
                <a16:creationId xmlns:a16="http://schemas.microsoft.com/office/drawing/2014/main" id="{59543E7D-CEE3-DFC8-8084-0CFEE4FF04C1}"/>
              </a:ext>
            </a:extLst>
          </p:cNvPr>
          <p:cNvSpPr>
            <a:spLocks noGrp="1"/>
          </p:cNvSpPr>
          <p:nvPr>
            <p:ph idx="1"/>
          </p:nvPr>
        </p:nvSpPr>
        <p:spPr/>
        <p:txBody>
          <a:bodyPr>
            <a:normAutofit/>
          </a:bodyPr>
          <a:lstStyle/>
          <a:p>
            <a:r>
              <a:rPr lang="en-US" sz="2400" b="1" dirty="0" err="1"/>
              <a:t>Maciejunes</a:t>
            </a:r>
            <a:r>
              <a:rPr lang="en-US" sz="2400" b="1" dirty="0"/>
              <a:t> et al. [3]</a:t>
            </a:r>
            <a:r>
              <a:rPr lang="en-US" sz="2400" dirty="0"/>
              <a:t> proposed a hybrid quantum–classical decomposition strategy to handle large-scale vehicle routing problems by breaking them into smaller Traveling Salesman subproblems suitable for QAOA execution. The methodology focused on problem-level and circuit-level decomposition to reduce qubit requirements and circuit depth. The findings demonstrated improved scalability and reduced quantum resource usage. However, the research gap remains in coordinating decomposed solutions into a globally optimal and dynamically adaptable delivery plan.</a:t>
            </a:r>
          </a:p>
          <a:p>
            <a:r>
              <a:rPr lang="en-US" sz="2400" b="1" dirty="0"/>
              <a:t>Osaba et al. [4]</a:t>
            </a:r>
            <a:r>
              <a:rPr lang="en-US" sz="2400" dirty="0"/>
              <a:t> introduced the Q4RPD framework, a hybrid quantum–classical approach designed for realistic package delivery scenarios with constraints such as time windows and heterogeneous vehicle fleets. The methodology integrated quantum annealing with classical optimization and orchestration. The findings showed better handling of real-world constraints compared to purely quantum models. The research gap is that the framework does not support continuous route execution simulation or real-time rerouting when unexpected traffic or roadblocks occur.</a:t>
            </a:r>
            <a:endParaRPr lang="en-US" sz="2400" dirty="0">
              <a:solidFill>
                <a:srgbClr val="FF0000"/>
              </a:solidFill>
            </a:endParaRPr>
          </a:p>
        </p:txBody>
      </p:sp>
      <p:sp>
        <p:nvSpPr>
          <p:cNvPr id="5" name="TextBox 4">
            <a:extLst>
              <a:ext uri="{FF2B5EF4-FFF2-40B4-BE49-F238E27FC236}">
                <a16:creationId xmlns:a16="http://schemas.microsoft.com/office/drawing/2014/main" id="{5CC98CF8-E920-EC79-EBD6-2659EA62E622}"/>
              </a:ext>
            </a:extLst>
          </p:cNvPr>
          <p:cNvSpPr txBox="1"/>
          <p:nvPr/>
        </p:nvSpPr>
        <p:spPr>
          <a:xfrm>
            <a:off x="522862" y="6606769"/>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34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015B8-84D5-C8FE-7985-D5915BB4F0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819AA-0625-4E3B-25E6-9AA66E64B3DE}"/>
              </a:ext>
            </a:extLst>
          </p:cNvPr>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sp>
        <p:nvSpPr>
          <p:cNvPr id="3" name="Content Placeholder 2">
            <a:extLst>
              <a:ext uri="{FF2B5EF4-FFF2-40B4-BE49-F238E27FC236}">
                <a16:creationId xmlns:a16="http://schemas.microsoft.com/office/drawing/2014/main" id="{5BAD096C-5BA9-EFDD-760F-B8CE37DE7758}"/>
              </a:ext>
            </a:extLst>
          </p:cNvPr>
          <p:cNvSpPr>
            <a:spLocks noGrp="1"/>
          </p:cNvSpPr>
          <p:nvPr>
            <p:ph idx="1"/>
          </p:nvPr>
        </p:nvSpPr>
        <p:spPr/>
        <p:txBody>
          <a:bodyPr>
            <a:normAutofit/>
          </a:bodyPr>
          <a:lstStyle/>
          <a:p>
            <a:r>
              <a:rPr lang="en-US" sz="2400" b="1" dirty="0"/>
              <a:t>Azad et al. [6]</a:t>
            </a:r>
            <a:r>
              <a:rPr lang="en-US" sz="2400" dirty="0"/>
              <a:t> explored a hybrid quantum–classical optimization approach for delivery routing using QAOA implemented through IBM </a:t>
            </a:r>
            <a:r>
              <a:rPr lang="en-US" sz="2400" dirty="0" err="1"/>
              <a:t>Qiskit</a:t>
            </a:r>
            <a:r>
              <a:rPr lang="en-US" sz="2400" dirty="0"/>
              <a:t>. The methodology involved mapping routing constraints into an Ising Hamiltonian and executing hybrid optimization routines. The findings showed that quantum-assisted methods can achieve near-optimal solutions for small routing instances. The research gap highlighted is the high sensitivity to initialization parameters and penalty tuning, which reduces robustness and consistency for practical delivery networks.</a:t>
            </a:r>
          </a:p>
          <a:p>
            <a:r>
              <a:rPr lang="en-US" sz="2400" b="1" dirty="0"/>
              <a:t>Bently et al. [7]</a:t>
            </a:r>
            <a:r>
              <a:rPr lang="en-US" sz="2400" dirty="0"/>
              <a:t> proposed a cost- and time-efficient delivery routing framework based on classical optimization techniques and simulation. The methodology focused on minimizing delivery distance and time through heuristic-based routing. The findings demonstrated improvements in delivery efficiency compared to basic routing strategies. However, the research gap is that the approach does not incorporate quantum optimization or generate alternate routes to handle dynamic traffic conditions, which limits adaptability.</a:t>
            </a:r>
          </a:p>
        </p:txBody>
      </p:sp>
      <p:sp>
        <p:nvSpPr>
          <p:cNvPr id="5" name="TextBox 4">
            <a:extLst>
              <a:ext uri="{FF2B5EF4-FFF2-40B4-BE49-F238E27FC236}">
                <a16:creationId xmlns:a16="http://schemas.microsoft.com/office/drawing/2014/main" id="{C94D8503-2CCE-2F30-BE8C-26B2FDF04306}"/>
              </a:ext>
            </a:extLst>
          </p:cNvPr>
          <p:cNvSpPr txBox="1"/>
          <p:nvPr/>
        </p:nvSpPr>
        <p:spPr>
          <a:xfrm>
            <a:off x="542316" y="6606769"/>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052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pPr algn="ctr"/>
            <a:r>
              <a:rPr lang="en-US" dirty="0"/>
              <a:t>Existing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r>
              <a:rPr lang="en-US" sz="2400" dirty="0"/>
              <a:t>Most delivery systems use </a:t>
            </a:r>
            <a:r>
              <a:rPr lang="en-US" sz="2400" b="1" dirty="0"/>
              <a:t>classical optimization algorithms</a:t>
            </a:r>
          </a:p>
          <a:p>
            <a:r>
              <a:rPr lang="en-US" sz="2400" dirty="0"/>
              <a:t>Routes are selected based on </a:t>
            </a:r>
            <a:r>
              <a:rPr lang="en-US" sz="2400" b="1" dirty="0"/>
              <a:t>shortest distance or fastest time</a:t>
            </a:r>
            <a:endParaRPr lang="en-US" sz="2400" dirty="0"/>
          </a:p>
          <a:p>
            <a:r>
              <a:rPr lang="en-US" sz="2400" dirty="0"/>
              <a:t>Only </a:t>
            </a:r>
            <a:r>
              <a:rPr lang="en-US" sz="2400" b="1" dirty="0"/>
              <a:t>one primary route</a:t>
            </a:r>
            <a:r>
              <a:rPr lang="en-US" sz="2400" dirty="0"/>
              <a:t> is generated for delivery</a:t>
            </a:r>
          </a:p>
          <a:p>
            <a:r>
              <a:rPr lang="en-US" sz="2400" dirty="0"/>
              <a:t>Real-world apps (</a:t>
            </a:r>
            <a:r>
              <a:rPr lang="en-US" sz="2400" b="1" dirty="0"/>
              <a:t>Google Maps, Amazon, Swiggy, Zomato, Uber Eats</a:t>
            </a:r>
            <a:r>
              <a:rPr lang="en-US" sz="2400" dirty="0"/>
              <a:t>):</a:t>
            </a:r>
          </a:p>
          <a:p>
            <a:pPr lvl="1"/>
            <a:r>
              <a:rPr lang="en-US" dirty="0"/>
              <a:t>Provide a single optimized route</a:t>
            </a:r>
          </a:p>
          <a:p>
            <a:pPr lvl="1"/>
            <a:r>
              <a:rPr lang="en-US" dirty="0"/>
              <a:t>Re-route only </a:t>
            </a:r>
            <a:r>
              <a:rPr lang="en-US" b="1" dirty="0"/>
              <a:t>after traffic or delays occur</a:t>
            </a:r>
            <a:endParaRPr lang="en-US" dirty="0"/>
          </a:p>
          <a:p>
            <a:r>
              <a:rPr lang="en-US" sz="2400" dirty="0"/>
              <a:t>Quantum research using </a:t>
            </a:r>
            <a:r>
              <a:rPr lang="en-US" sz="2400" b="1" dirty="0"/>
              <a:t>D-Wave</a:t>
            </a:r>
            <a:r>
              <a:rPr lang="en-US" sz="2400" dirty="0"/>
              <a:t> and </a:t>
            </a:r>
            <a:r>
              <a:rPr lang="en-US" sz="2400" b="1" dirty="0"/>
              <a:t>IBM Quantum (QAOA)</a:t>
            </a:r>
            <a:r>
              <a:rPr lang="en-US" sz="2400" dirty="0"/>
              <a:t>:</a:t>
            </a:r>
          </a:p>
          <a:p>
            <a:pPr lvl="1"/>
            <a:r>
              <a:rPr lang="en-US" dirty="0"/>
              <a:t>Works only for </a:t>
            </a:r>
            <a:r>
              <a:rPr lang="en-US" b="1" dirty="0"/>
              <a:t>small delivery networks</a:t>
            </a:r>
            <a:endParaRPr lang="en-US" dirty="0"/>
          </a:p>
          <a:p>
            <a:pPr lvl="1"/>
            <a:r>
              <a:rPr lang="en-US" dirty="0"/>
              <a:t>Produces </a:t>
            </a:r>
            <a:r>
              <a:rPr lang="en-US" b="1" dirty="0"/>
              <a:t>unstable or incomplete routes</a:t>
            </a:r>
            <a:endParaRPr lang="en-US" dirty="0"/>
          </a:p>
          <a:p>
            <a:pPr lvl="1"/>
            <a:r>
              <a:rPr lang="en-US" dirty="0"/>
              <a:t>Needs </a:t>
            </a:r>
            <a:r>
              <a:rPr lang="en-US" b="1" dirty="0"/>
              <a:t>classical repair and validation</a:t>
            </a:r>
            <a:endParaRPr lang="en-US" dirty="0"/>
          </a:p>
          <a:p>
            <a:r>
              <a:rPr lang="en-US" sz="2400" b="1" dirty="0"/>
              <a:t>No system provides pre-computed alternate routes</a:t>
            </a:r>
            <a:endParaRPr lang="en-US" sz="2400" dirty="0"/>
          </a:p>
          <a:p>
            <a:r>
              <a:rPr lang="en-US" sz="2400" dirty="0"/>
              <a:t>Current solutions are </a:t>
            </a:r>
            <a:r>
              <a:rPr lang="en-US" sz="2400" b="1" dirty="0"/>
              <a:t>reactive, not proactive</a:t>
            </a:r>
            <a:endParaRPr lang="en-IN" sz="2400" dirty="0"/>
          </a:p>
          <a:p>
            <a:endParaRPr lang="en-IN" sz="2400" dirty="0"/>
          </a:p>
        </p:txBody>
      </p:sp>
      <p:sp>
        <p:nvSpPr>
          <p:cNvPr id="9" name="TextBox 8">
            <a:extLst>
              <a:ext uri="{FF2B5EF4-FFF2-40B4-BE49-F238E27FC236}">
                <a16:creationId xmlns:a16="http://schemas.microsoft.com/office/drawing/2014/main" id="{1B22B4DE-B4E6-0EA8-CBB2-C239912A0E3A}"/>
              </a:ext>
            </a:extLst>
          </p:cNvPr>
          <p:cNvSpPr txBox="1"/>
          <p:nvPr/>
        </p:nvSpPr>
        <p:spPr>
          <a:xfrm>
            <a:off x="522861" y="6590220"/>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3255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pPr algn="ctr"/>
            <a:r>
              <a:rPr lang="en-US" dirty="0"/>
              <a:t>Proposed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206430" y="1080654"/>
            <a:ext cx="11779135" cy="5394960"/>
          </a:xfrm>
        </p:spPr>
        <p:txBody>
          <a:bodyPr>
            <a:normAutofit lnSpcReduction="10000"/>
          </a:bodyPr>
          <a:lstStyle/>
          <a:p>
            <a:r>
              <a:rPr lang="en-IN" sz="2400" dirty="0"/>
              <a:t>Hybrid </a:t>
            </a:r>
            <a:r>
              <a:rPr lang="en-IN" sz="2400" b="1" dirty="0"/>
              <a:t>quantum–classical</a:t>
            </a:r>
            <a:r>
              <a:rPr lang="en-IN" sz="2400" dirty="0"/>
              <a:t> model for delivery routing</a:t>
            </a:r>
          </a:p>
          <a:p>
            <a:r>
              <a:rPr lang="en-IN" sz="2400" dirty="0"/>
              <a:t>Delivery locations encoded as </a:t>
            </a:r>
            <a:r>
              <a:rPr lang="en-IN" sz="2400" b="1" dirty="0"/>
              <a:t>quantum-optimizable data</a:t>
            </a:r>
            <a:endParaRPr lang="en-IN" sz="2400" dirty="0"/>
          </a:p>
          <a:p>
            <a:r>
              <a:rPr lang="en-IN" sz="2400" dirty="0"/>
              <a:t>Customers grouped into </a:t>
            </a:r>
            <a:r>
              <a:rPr lang="en-IN" sz="2400" b="1" dirty="0"/>
              <a:t>quantum-manageable instances</a:t>
            </a:r>
            <a:endParaRPr lang="en-IN" sz="2400" dirty="0"/>
          </a:p>
          <a:p>
            <a:r>
              <a:rPr lang="en-IN" sz="2400" dirty="0"/>
              <a:t>Routes represented as </a:t>
            </a:r>
            <a:r>
              <a:rPr lang="en-IN" sz="2400" b="1" dirty="0"/>
              <a:t>quantum decision variables</a:t>
            </a:r>
            <a:endParaRPr lang="en-IN" sz="2400" dirty="0"/>
          </a:p>
          <a:p>
            <a:r>
              <a:rPr lang="en-IN" sz="2400" dirty="0"/>
              <a:t>Routing formulated as a </a:t>
            </a:r>
            <a:r>
              <a:rPr lang="en-IN" sz="2400" b="1" dirty="0"/>
              <a:t>QUBO model</a:t>
            </a:r>
            <a:endParaRPr lang="en-IN" sz="2400" dirty="0"/>
          </a:p>
          <a:p>
            <a:r>
              <a:rPr lang="en-IN" sz="2400" b="1" dirty="0"/>
              <a:t>QAOA</a:t>
            </a:r>
            <a:r>
              <a:rPr lang="en-IN" sz="2400" dirty="0"/>
              <a:t> selects optimal and alternate routes</a:t>
            </a:r>
          </a:p>
          <a:p>
            <a:r>
              <a:rPr lang="en-IN" sz="2400" dirty="0"/>
              <a:t>Alternate routes obtained from </a:t>
            </a:r>
            <a:r>
              <a:rPr lang="en-IN" sz="2400" b="1" dirty="0"/>
              <a:t>quantum sampling</a:t>
            </a:r>
            <a:endParaRPr lang="en-IN" sz="2400" dirty="0"/>
          </a:p>
          <a:p>
            <a:r>
              <a:rPr lang="en-IN" sz="2400" dirty="0"/>
              <a:t>Final routes validated with </a:t>
            </a:r>
            <a:r>
              <a:rPr lang="en-IN" sz="2400" b="1" dirty="0"/>
              <a:t>minimal classical correction</a:t>
            </a:r>
          </a:p>
          <a:p>
            <a:pPr marL="0" indent="0">
              <a:buNone/>
            </a:pPr>
            <a:r>
              <a:rPr lang="en-IN" sz="2400" b="1" dirty="0"/>
              <a:t>Technology Stack:</a:t>
            </a:r>
          </a:p>
          <a:p>
            <a:r>
              <a:rPr lang="en-IN" sz="2400" b="1" dirty="0"/>
              <a:t>Python</a:t>
            </a:r>
          </a:p>
          <a:p>
            <a:r>
              <a:rPr lang="en-IN" sz="2400" b="1" dirty="0"/>
              <a:t>IBM </a:t>
            </a:r>
            <a:r>
              <a:rPr lang="en-IN" sz="2400" b="1" dirty="0" err="1"/>
              <a:t>Qiskit</a:t>
            </a:r>
            <a:r>
              <a:rPr lang="en-IN" sz="2400" b="1" dirty="0"/>
              <a:t>(QAOA,QUBO)-</a:t>
            </a:r>
            <a:r>
              <a:rPr lang="en-IN" sz="2400" dirty="0"/>
              <a:t>Route selection and route optimization</a:t>
            </a:r>
          </a:p>
          <a:p>
            <a:r>
              <a:rPr lang="en-IN" sz="2400" b="1" dirty="0"/>
              <a:t>Scikit-learn</a:t>
            </a:r>
            <a:r>
              <a:rPr lang="en-IN" sz="2400" dirty="0"/>
              <a:t>(Clustering),</a:t>
            </a:r>
            <a:r>
              <a:rPr lang="en-IN" sz="2400" b="1" dirty="0"/>
              <a:t>NumPy</a:t>
            </a:r>
            <a:r>
              <a:rPr lang="en-IN" sz="2400" dirty="0"/>
              <a:t>(Distance and cost computation),</a:t>
            </a:r>
            <a:r>
              <a:rPr lang="en-IN" sz="2400" b="1" dirty="0"/>
              <a:t>Matplotlib</a:t>
            </a:r>
            <a:r>
              <a:rPr lang="en-IN" sz="2400" dirty="0"/>
              <a:t>(Visualization)</a:t>
            </a:r>
          </a:p>
        </p:txBody>
      </p:sp>
      <p:sp>
        <p:nvSpPr>
          <p:cNvPr id="22" name="TextBox 21">
            <a:extLst>
              <a:ext uri="{FF2B5EF4-FFF2-40B4-BE49-F238E27FC236}">
                <a16:creationId xmlns:a16="http://schemas.microsoft.com/office/drawing/2014/main" id="{95FC819F-EE75-4D3D-026F-0763661B2F94}"/>
              </a:ext>
            </a:extLst>
          </p:cNvPr>
          <p:cNvSpPr txBox="1"/>
          <p:nvPr/>
        </p:nvSpPr>
        <p:spPr>
          <a:xfrm>
            <a:off x="552044" y="6589838"/>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2225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pPr algn="ctr"/>
            <a:r>
              <a:rPr lang="en-US"/>
              <a:t>Planning &amp; Design</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fontScale="92500" lnSpcReduction="10000"/>
          </a:bodyPr>
          <a:lstStyle/>
          <a:p>
            <a:r>
              <a:rPr lang="en-US" dirty="0"/>
              <a:t>Define delivery problem using </a:t>
            </a:r>
            <a:r>
              <a:rPr lang="en-US" b="1" dirty="0"/>
              <a:t>source (depot)</a:t>
            </a:r>
            <a:r>
              <a:rPr lang="en-US" dirty="0"/>
              <a:t> and </a:t>
            </a:r>
            <a:r>
              <a:rPr lang="en-US" b="1" dirty="0"/>
              <a:t>customer locations</a:t>
            </a:r>
          </a:p>
          <a:p>
            <a:r>
              <a:rPr lang="en-IN" dirty="0"/>
              <a:t>Represent locations as </a:t>
            </a:r>
            <a:r>
              <a:rPr lang="en-IN" b="1" dirty="0"/>
              <a:t>2D coordinates</a:t>
            </a:r>
            <a:r>
              <a:rPr lang="en-IN" dirty="0"/>
              <a:t> for distance computation</a:t>
            </a:r>
          </a:p>
          <a:p>
            <a:r>
              <a:rPr lang="en-IN" dirty="0"/>
              <a:t>Group customers into </a:t>
            </a:r>
            <a:r>
              <a:rPr lang="en-IN" b="1" dirty="0"/>
              <a:t>quantum-manageable clusters</a:t>
            </a:r>
            <a:endParaRPr lang="en-IN" dirty="0"/>
          </a:p>
          <a:p>
            <a:r>
              <a:rPr lang="en-IN" dirty="0"/>
              <a:t>Limit cluster size to support </a:t>
            </a:r>
            <a:r>
              <a:rPr lang="en-IN" b="1" dirty="0"/>
              <a:t>near-term quantum execution</a:t>
            </a:r>
            <a:endParaRPr lang="en-IN" dirty="0"/>
          </a:p>
          <a:p>
            <a:r>
              <a:rPr lang="en-IN" dirty="0"/>
              <a:t>Generate multiple </a:t>
            </a:r>
            <a:r>
              <a:rPr lang="en-IN" b="1" dirty="0"/>
              <a:t>candidate delivery routes</a:t>
            </a:r>
            <a:r>
              <a:rPr lang="en-IN" dirty="0"/>
              <a:t> per cluster</a:t>
            </a:r>
          </a:p>
          <a:p>
            <a:r>
              <a:rPr lang="en-IN" dirty="0"/>
              <a:t>Filter infeasible routes before quantum processing</a:t>
            </a:r>
          </a:p>
          <a:p>
            <a:r>
              <a:rPr lang="en-IN" dirty="0"/>
              <a:t>Encode route selection as </a:t>
            </a:r>
            <a:r>
              <a:rPr lang="en-IN" b="1" dirty="0"/>
              <a:t>binary decision variables</a:t>
            </a:r>
            <a:endParaRPr lang="en-IN" dirty="0"/>
          </a:p>
          <a:p>
            <a:r>
              <a:rPr lang="en-IN" dirty="0"/>
              <a:t>Formulate routing problem as a </a:t>
            </a:r>
            <a:r>
              <a:rPr lang="en-IN" b="1" dirty="0"/>
              <a:t>QUBO model</a:t>
            </a:r>
            <a:endParaRPr lang="en-IN" dirty="0"/>
          </a:p>
          <a:p>
            <a:r>
              <a:rPr lang="en-IN" dirty="0"/>
              <a:t>Apply </a:t>
            </a:r>
            <a:r>
              <a:rPr lang="en-IN" b="1" dirty="0"/>
              <a:t>Quantum Approximate Optimization Algorithm (QAOA)</a:t>
            </a:r>
            <a:endParaRPr lang="en-IN" dirty="0"/>
          </a:p>
          <a:p>
            <a:r>
              <a:rPr lang="en-IN" dirty="0"/>
              <a:t>Extract optimal and near-optimal routes from quantum results</a:t>
            </a:r>
          </a:p>
          <a:p>
            <a:r>
              <a:rPr lang="en-IN" dirty="0"/>
              <a:t>Store </a:t>
            </a:r>
            <a:r>
              <a:rPr lang="en-IN" b="1" dirty="0"/>
              <a:t>main and alternate routes</a:t>
            </a:r>
            <a:r>
              <a:rPr lang="en-IN" dirty="0"/>
              <a:t> for execution</a:t>
            </a:r>
          </a:p>
          <a:p>
            <a:r>
              <a:rPr lang="en-IN" dirty="0"/>
              <a:t>Apply minimal validation and correction if required</a:t>
            </a:r>
          </a:p>
          <a:p>
            <a:endParaRPr lang="en-IN" dirty="0"/>
          </a:p>
          <a:p>
            <a:endParaRPr lang="en-IN" dirty="0"/>
          </a:p>
          <a:p>
            <a:endParaRPr lang="en-IN" dirty="0"/>
          </a:p>
        </p:txBody>
      </p:sp>
      <p:sp>
        <p:nvSpPr>
          <p:cNvPr id="5" name="TextBox 4">
            <a:extLst>
              <a:ext uri="{FF2B5EF4-FFF2-40B4-BE49-F238E27FC236}">
                <a16:creationId xmlns:a16="http://schemas.microsoft.com/office/drawing/2014/main" id="{3FC0D2F0-E6A7-CD25-010C-67590100CE18}"/>
              </a:ext>
            </a:extLst>
          </p:cNvPr>
          <p:cNvSpPr txBox="1"/>
          <p:nvPr/>
        </p:nvSpPr>
        <p:spPr>
          <a:xfrm>
            <a:off x="561772" y="6589838"/>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1041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Autofit/>
          </a:bodyPr>
          <a:lstStyle/>
          <a:p>
            <a:pPr marL="577850" indent="-577850">
              <a:buNone/>
            </a:pPr>
            <a:r>
              <a:rPr lang="en-US" sz="2400" dirty="0"/>
              <a:t>[1].</a:t>
            </a:r>
            <a:r>
              <a:rPr lang="sv-SE" sz="2400" dirty="0"/>
              <a:t>Talha Azfar, Osama Muhammad Raisuddin, Ruimin Ke, and José Holguín-Veras,</a:t>
            </a:r>
            <a:r>
              <a:rPr lang="en-US" sz="2400" dirty="0"/>
              <a:t> “</a:t>
            </a:r>
            <a:r>
              <a:rPr lang="en-US" sz="2400" b="1" dirty="0"/>
              <a:t>Quantum-Assisted Vehicle Routing: Realizing QAOA-based Approach on Gate-Based Quantum Computer</a:t>
            </a:r>
            <a:r>
              <a:rPr lang="en-US" sz="2400" dirty="0"/>
              <a:t>”</a:t>
            </a:r>
            <a:r>
              <a:rPr lang="en-US" sz="2400" b="1" dirty="0"/>
              <a:t>,</a:t>
            </a:r>
            <a:r>
              <a:rPr lang="en-IN" sz="2400" dirty="0"/>
              <a:t> Rensselaer Polytechnic Institute, USA.</a:t>
            </a:r>
          </a:p>
          <a:p>
            <a:pPr marL="577850" indent="-577850">
              <a:buNone/>
            </a:pPr>
            <a:r>
              <a:rPr lang="en-IN" sz="2400" dirty="0"/>
              <a:t>[2].Eneko Osaba, Esther Villar-Rodriguez, Pablo Miranda-Rodriguez, and Antón Asla,</a:t>
            </a:r>
            <a:br>
              <a:rPr lang="en-IN" sz="2400" dirty="0"/>
            </a:br>
            <a:r>
              <a:rPr lang="en-IN" sz="2400" dirty="0"/>
              <a:t>“</a:t>
            </a:r>
            <a:r>
              <a:rPr lang="en-IN" sz="2400" b="1" dirty="0"/>
              <a:t>Optimizing Package Delivery with Quantum Annealers: Addressing Time-Windows and Simultaneous Pickup and Delivery</a:t>
            </a:r>
            <a:r>
              <a:rPr lang="en-IN" sz="2400" dirty="0"/>
              <a:t>”,</a:t>
            </a:r>
            <a:r>
              <a:rPr lang="en-IN" sz="2400" i="1" dirty="0"/>
              <a:t> </a:t>
            </a:r>
            <a:r>
              <a:rPr lang="en-IN" sz="2400" i="1" dirty="0" err="1"/>
              <a:t>arXiv</a:t>
            </a:r>
            <a:r>
              <a:rPr lang="en-IN" sz="2400" i="1" dirty="0"/>
              <a:t> preprint arXiv:2504.01560</a:t>
            </a:r>
            <a:r>
              <a:rPr lang="en-IN" sz="2400" dirty="0"/>
              <a:t>, Apr. 2025.</a:t>
            </a:r>
          </a:p>
          <a:p>
            <a:pPr marL="577850" indent="-577850">
              <a:buNone/>
            </a:pPr>
            <a:r>
              <a:rPr lang="en-IN" sz="2400" dirty="0"/>
              <a:t>[3].James B. Holliday, Darren Blount, Eneko Osaba, and Khoa Luu,</a:t>
            </a:r>
            <a:r>
              <a:rPr lang="en-US" sz="2400" dirty="0"/>
              <a:t> “</a:t>
            </a:r>
            <a:r>
              <a:rPr lang="en-US" sz="2400" b="1" dirty="0"/>
              <a:t>Advanced Quantum Annealing Approach to Vehicle Routing Problems with Time Windows</a:t>
            </a:r>
            <a:r>
              <a:rPr lang="en-US" sz="2400" dirty="0"/>
              <a:t>,”</a:t>
            </a:r>
            <a:br>
              <a:rPr lang="en-US" sz="2400" dirty="0"/>
            </a:br>
            <a:r>
              <a:rPr lang="en-US" sz="2400" i="1" dirty="0" err="1"/>
              <a:t>arXiv</a:t>
            </a:r>
            <a:r>
              <a:rPr lang="en-US" sz="2400" i="1" dirty="0"/>
              <a:t> preprint arXiv:2503.24285</a:t>
            </a:r>
            <a:r>
              <a:rPr lang="en-US" sz="2400" dirty="0"/>
              <a:t>, Mar. 2025.</a:t>
            </a:r>
          </a:p>
          <a:p>
            <a:pPr marL="577850" indent="-577850">
              <a:buNone/>
            </a:pPr>
            <a:r>
              <a:rPr lang="en-US" sz="2400" dirty="0"/>
              <a:t>[4].</a:t>
            </a:r>
            <a:r>
              <a:rPr lang="en-IN" sz="2400" dirty="0"/>
              <a:t> Andrew </a:t>
            </a:r>
            <a:r>
              <a:rPr lang="en-IN" sz="2400" dirty="0" err="1"/>
              <a:t>Maciejunes</a:t>
            </a:r>
            <a:r>
              <a:rPr lang="en-IN" sz="2400" dirty="0"/>
              <a:t>, John Stenger, Daniel </a:t>
            </a:r>
            <a:r>
              <a:rPr lang="en-IN" sz="2400" dirty="0" err="1"/>
              <a:t>Gunlycke</a:t>
            </a:r>
            <a:r>
              <a:rPr lang="en-IN" sz="2400" dirty="0"/>
              <a:t>, and Nikos </a:t>
            </a:r>
            <a:r>
              <a:rPr lang="en-IN" sz="2400" dirty="0" err="1"/>
              <a:t>Chrisochoides</a:t>
            </a:r>
            <a:r>
              <a:rPr lang="en-IN" sz="2400" dirty="0"/>
              <a:t>,</a:t>
            </a:r>
            <a:r>
              <a:rPr lang="en-US" sz="2400" dirty="0"/>
              <a:t> “</a:t>
            </a:r>
            <a:r>
              <a:rPr lang="en-US" sz="2400" b="1" dirty="0"/>
              <a:t>Solving Large-Scale Vehicle Routing Problems with Hybrid Quantum-Classical Decomposition”,</a:t>
            </a:r>
            <a:r>
              <a:rPr lang="en-US" sz="2400" dirty="0"/>
              <a:t> in </a:t>
            </a:r>
            <a:r>
              <a:rPr lang="en-US" sz="2400" i="1" dirty="0"/>
              <a:t>Proceedings of the IEEE International Conference on Quantum Computing and Engineering (QCE)</a:t>
            </a:r>
            <a:r>
              <a:rPr lang="en-US" sz="2400" dirty="0"/>
              <a:t>, 2025</a:t>
            </a:r>
          </a:p>
          <a:p>
            <a:pPr marL="577850" indent="-577850">
              <a:buNone/>
            </a:pPr>
            <a:endParaRPr lang="en-US" sz="2400" b="1" dirty="0"/>
          </a:p>
          <a:p>
            <a:pPr marL="577850" indent="-577850">
              <a:buNone/>
            </a:pPr>
            <a:br>
              <a:rPr lang="en-US" sz="2400" dirty="0"/>
            </a:br>
            <a:endParaRPr lang="en-IN" sz="2400" dirty="0"/>
          </a:p>
        </p:txBody>
      </p:sp>
      <p:sp>
        <p:nvSpPr>
          <p:cNvPr id="5" name="TextBox 4">
            <a:extLst>
              <a:ext uri="{FF2B5EF4-FFF2-40B4-BE49-F238E27FC236}">
                <a16:creationId xmlns:a16="http://schemas.microsoft.com/office/drawing/2014/main" id="{67009DFF-7865-4E9F-EF9E-25840E1BE919}"/>
              </a:ext>
            </a:extLst>
          </p:cNvPr>
          <p:cNvSpPr txBox="1"/>
          <p:nvPr/>
        </p:nvSpPr>
        <p:spPr>
          <a:xfrm>
            <a:off x="396402" y="6625241"/>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3D851-EF27-C61C-3083-D53ACF8FE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E9664-FCFA-BEF0-865C-61A1883EB2F7}"/>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0884570F-87F4-3EE6-D374-6E2CED104199}"/>
              </a:ext>
            </a:extLst>
          </p:cNvPr>
          <p:cNvSpPr>
            <a:spLocks noGrp="1"/>
          </p:cNvSpPr>
          <p:nvPr>
            <p:ph idx="1"/>
          </p:nvPr>
        </p:nvSpPr>
        <p:spPr/>
        <p:txBody>
          <a:bodyPr>
            <a:noAutofit/>
          </a:bodyPr>
          <a:lstStyle/>
          <a:p>
            <a:pPr marL="577850" indent="-577850">
              <a:buNone/>
            </a:pPr>
            <a:r>
              <a:rPr lang="en-US" sz="2400" dirty="0"/>
              <a:t>[5].</a:t>
            </a:r>
            <a:r>
              <a:rPr lang="es-ES" sz="2400" dirty="0"/>
              <a:t>Eneko Osaba, Esther Villar-</a:t>
            </a:r>
            <a:r>
              <a:rPr lang="es-ES" sz="2400" dirty="0" err="1"/>
              <a:t>Rodriguez</a:t>
            </a:r>
            <a:r>
              <a:rPr lang="es-ES" sz="2400" dirty="0"/>
              <a:t>, and Antón </a:t>
            </a:r>
            <a:r>
              <a:rPr lang="es-ES" sz="2400" dirty="0" err="1"/>
              <a:t>Asla</a:t>
            </a:r>
            <a:r>
              <a:rPr lang="es-ES" sz="2400" dirty="0"/>
              <a:t>,</a:t>
            </a:r>
            <a:r>
              <a:rPr lang="en-US" sz="2400" dirty="0"/>
              <a:t>““</a:t>
            </a:r>
            <a:r>
              <a:rPr lang="en-US" sz="2400" b="1" dirty="0"/>
              <a:t>Solving a Real-World Package Delivery Routing Problem Using Quantum Annealers</a:t>
            </a:r>
            <a:r>
              <a:rPr lang="en-US" sz="2400" dirty="0"/>
              <a:t>,”</a:t>
            </a:r>
            <a:br>
              <a:rPr lang="en-US" sz="2400" dirty="0"/>
            </a:br>
            <a:r>
              <a:rPr lang="en-US" sz="2400" i="1" dirty="0"/>
              <a:t>Scientific Reports</a:t>
            </a:r>
            <a:r>
              <a:rPr lang="en-US" sz="2400" dirty="0"/>
              <a:t>, vol. 14, Article no. 24791, 2024.</a:t>
            </a:r>
          </a:p>
          <a:p>
            <a:pPr marL="577850" indent="-577850">
              <a:buNone/>
            </a:pPr>
            <a:r>
              <a:rPr lang="en-IN" sz="2400" dirty="0"/>
              <a:t>[6].Utkarsh Azad, Bikash K. Behera, Emad A. Ahmed, Prasanta K. Panigrahi, and Ahmed </a:t>
            </a:r>
            <a:r>
              <a:rPr lang="en-IN" sz="2400" dirty="0" err="1"/>
              <a:t>Farouk,“</a:t>
            </a:r>
            <a:r>
              <a:rPr lang="en-IN" sz="2400" b="1" dirty="0" err="1"/>
              <a:t>Solving</a:t>
            </a:r>
            <a:r>
              <a:rPr lang="en-IN" sz="2400" b="1" dirty="0"/>
              <a:t> Vehicle Routing Problem Using Quantum Approximate Optimization Algorithm</a:t>
            </a:r>
            <a:r>
              <a:rPr lang="en-IN" sz="2400" dirty="0"/>
              <a:t>”,</a:t>
            </a:r>
            <a:r>
              <a:rPr lang="en-IN" sz="2400" i="1" dirty="0"/>
              <a:t> IEEE Transactions on Intelligent Transportation Systems</a:t>
            </a:r>
            <a:r>
              <a:rPr lang="en-IN" sz="2400" dirty="0"/>
              <a:t>, vol. 24, no. 7, pp. 7564–7576, Jul. 2023. </a:t>
            </a:r>
          </a:p>
          <a:p>
            <a:pPr marL="577850" indent="-577850">
              <a:buNone/>
            </a:pPr>
            <a:r>
              <a:rPr lang="en-IN" sz="2400" dirty="0"/>
              <a:t>[7].Christopher D. B. Bentley, Samuel Marsh, André R. R. Carvalho, Philip Kilby, and Michael J. </a:t>
            </a:r>
            <a:r>
              <a:rPr lang="en-IN" sz="2400" dirty="0" err="1"/>
              <a:t>Biercuk</a:t>
            </a:r>
            <a:r>
              <a:rPr lang="en-IN" sz="2400" dirty="0"/>
              <a:t>,</a:t>
            </a:r>
            <a:r>
              <a:rPr lang="en-US" sz="2400" dirty="0"/>
              <a:t>“</a:t>
            </a:r>
            <a:r>
              <a:rPr lang="en-IN" sz="2400" b="1" dirty="0"/>
              <a:t>Quantum Computing for Transport Optimization</a:t>
            </a:r>
            <a:r>
              <a:rPr lang="en-IN" sz="2400" dirty="0"/>
              <a:t>”</a:t>
            </a:r>
            <a:r>
              <a:rPr lang="en-US" sz="2400" dirty="0"/>
              <a:t>,</a:t>
            </a:r>
            <a:br>
              <a:rPr lang="en-US" sz="2400" dirty="0"/>
            </a:br>
            <a:r>
              <a:rPr lang="en-US" sz="2400" i="1" dirty="0"/>
              <a:t>Transport Reviews</a:t>
            </a:r>
            <a:r>
              <a:rPr lang="en-US" sz="2400" dirty="0"/>
              <a:t>, vol. 42, no. 4, pp. 1–24, 2022.</a:t>
            </a:r>
            <a:endParaRPr lang="en-US" sz="2400" b="1" dirty="0"/>
          </a:p>
          <a:p>
            <a:pPr marL="577850" indent="-577850">
              <a:buNone/>
            </a:pPr>
            <a:br>
              <a:rPr lang="en-US" sz="2400" dirty="0"/>
            </a:br>
            <a:endParaRPr lang="en-IN" sz="2400" dirty="0"/>
          </a:p>
        </p:txBody>
      </p:sp>
      <p:sp>
        <p:nvSpPr>
          <p:cNvPr id="7" name="TextBox 6">
            <a:extLst>
              <a:ext uri="{FF2B5EF4-FFF2-40B4-BE49-F238E27FC236}">
                <a16:creationId xmlns:a16="http://schemas.microsoft.com/office/drawing/2014/main" id="{6AF739B9-21FF-F94B-6BFD-D9A68FA4F8C3}"/>
              </a:ext>
            </a:extLst>
          </p:cNvPr>
          <p:cNvSpPr txBox="1"/>
          <p:nvPr/>
        </p:nvSpPr>
        <p:spPr>
          <a:xfrm>
            <a:off x="454768" y="6619403"/>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416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B04F852-88AE-E360-77FE-F7E59B065005}"/>
              </a:ext>
            </a:extLst>
          </p:cNvPr>
          <p:cNvSpPr txBox="1"/>
          <p:nvPr/>
        </p:nvSpPr>
        <p:spPr>
          <a:xfrm>
            <a:off x="605547" y="6622383"/>
            <a:ext cx="6113834"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3143</TotalTime>
  <Words>1660</Words>
  <Application>Microsoft Office PowerPoint</Application>
  <PresentationFormat>Widescreen</PresentationFormat>
  <Paragraphs>121</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Courier New</vt:lpstr>
      <vt:lpstr>Times New Roman</vt:lpstr>
      <vt:lpstr>Wingdings</vt:lpstr>
      <vt:lpstr>Custom Design</vt:lpstr>
      <vt:lpstr>PowerPoint Presentation</vt:lpstr>
      <vt:lpstr>Comments </vt:lpstr>
      <vt:lpstr>Contents</vt:lpstr>
      <vt:lpstr>Abstract</vt:lpstr>
      <vt:lpstr>Introduction</vt:lpstr>
      <vt:lpstr>  Literature survey</vt:lpstr>
      <vt:lpstr>  Literature survey</vt:lpstr>
      <vt:lpstr>  Literature survey</vt:lpstr>
      <vt:lpstr>Existing System</vt:lpstr>
      <vt:lpstr>Proposed System</vt:lpstr>
      <vt:lpstr>Planning &amp; Design</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Suraiah Khaisar</cp:lastModifiedBy>
  <cp:revision>116</cp:revision>
  <dcterms:created xsi:type="dcterms:W3CDTF">2019-06-11T05:35:00Z</dcterms:created>
  <dcterms:modified xsi:type="dcterms:W3CDTF">2025-12-17T12:34:06Z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