
<file path=[Content_Types].xml><?xml version="1.0" encoding="utf-8"?>
<Types xmlns="http://schemas.openxmlformats.org/package/2006/content-types">
  <Default Extension="crdownload" ContentType="image/pn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handoutMasterIdLst>
    <p:handoutMasterId r:id="rId26"/>
  </p:handoutMasterIdLst>
  <p:sldIdLst>
    <p:sldId id="256" r:id="rId2"/>
    <p:sldId id="289" r:id="rId3"/>
    <p:sldId id="312" r:id="rId4"/>
    <p:sldId id="287" r:id="rId5"/>
    <p:sldId id="313" r:id="rId6"/>
    <p:sldId id="314" r:id="rId7"/>
    <p:sldId id="295" r:id="rId8"/>
    <p:sldId id="315" r:id="rId9"/>
    <p:sldId id="281" r:id="rId10"/>
    <p:sldId id="288" r:id="rId11"/>
    <p:sldId id="290" r:id="rId12"/>
    <p:sldId id="291" r:id="rId13"/>
    <p:sldId id="305" r:id="rId14"/>
    <p:sldId id="306" r:id="rId15"/>
    <p:sldId id="316" r:id="rId16"/>
    <p:sldId id="319" r:id="rId17"/>
    <p:sldId id="317" r:id="rId18"/>
    <p:sldId id="320" r:id="rId19"/>
    <p:sldId id="318" r:id="rId20"/>
    <p:sldId id="309" r:id="rId21"/>
    <p:sldId id="277" r:id="rId22"/>
    <p:sldId id="294"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9900"/>
    <a:srgbClr val="F4AF83"/>
    <a:srgbClr val="006666"/>
    <a:srgbClr val="0099FF"/>
    <a:srgbClr val="008080"/>
    <a:srgbClr val="0F9F7D"/>
    <a:srgbClr val="008000"/>
    <a:srgbClr val="373545"/>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p:scale>
          <a:sx n="66" d="100"/>
          <a:sy n="66" d="100"/>
        </p:scale>
        <p:origin x="1406" y="341"/>
      </p:cViewPr>
      <p:guideLst/>
    </p:cSldViewPr>
  </p:slideViewPr>
  <p:notesTextViewPr>
    <p:cViewPr>
      <p:scale>
        <a:sx n="1" d="1"/>
        <a:sy n="1" d="1"/>
      </p:scale>
      <p:origin x="0" y="0"/>
    </p:cViewPr>
  </p:notesTextViewPr>
  <p:notesViewPr>
    <p:cSldViewPr snapToGrid="0">
      <p:cViewPr varScale="1">
        <p:scale>
          <a:sx n="52" d="100"/>
          <a:sy n="52" d="100"/>
        </p:scale>
        <p:origin x="2680"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6E5FBE0-5C21-4E83-8069-52D09BCDD71E}" type="datetimeFigureOut">
              <a:rPr lang="en-IN" smtClean="0"/>
              <a:t>04-02-2026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36C5872-5BF2-424D-ADD9-174D7927D36A}" type="slidenum">
              <a:rPr lang="en-IN" smtClean="0"/>
              <a:t>‹#›</a:t>
            </a:fld>
            <a:endParaRPr lang="en-I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Hi to all</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846DD5-0A30-46AD-B2E1-F25508726044}" type="datetimeFigureOut">
              <a:rPr lang="en-IN" smtClean="0"/>
              <a:t>04-02-2026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FFBC11-2ED2-450E-A0CC-CEA7380C613F}" type="slidenum">
              <a:rPr lang="en-IN" smtClean="0"/>
              <a:t>‹#›</a:t>
            </a:fld>
            <a:endParaRPr lang="en-IN"/>
          </a:p>
        </p:txBody>
      </p:sp>
    </p:spTree>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Date Placeholder 3"/>
          <p:cNvSpPr txBox="1"/>
          <p:nvPr userDrawn="1"/>
        </p:nvSpPr>
        <p:spPr>
          <a:xfrm>
            <a:off x="777239" y="6634573"/>
            <a:ext cx="5781822" cy="220979"/>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6" name="Date Placeholder 3"/>
          <p:cNvSpPr txBox="1"/>
          <p:nvPr userDrawn="1"/>
        </p:nvSpPr>
        <p:spPr>
          <a:xfrm>
            <a:off x="6559062" y="6634573"/>
            <a:ext cx="5195133" cy="220979"/>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11754196" y="6637020"/>
            <a:ext cx="437803" cy="220979"/>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 y="-1"/>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0" y="6634573"/>
            <a:ext cx="777239" cy="22152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 y="232759"/>
            <a:ext cx="12192000" cy="714892"/>
          </a:xfrm>
          <a:prstGeom prst="rect">
            <a:avLst/>
          </a:prstGeom>
          <a:solidFill>
            <a:srgbClr val="FF6600"/>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defRPr b="0" cap="none" spc="0">
                <a:ln w="0"/>
                <a:solidFill>
                  <a:schemeClr val="bg1"/>
                </a:solidFill>
                <a:effectLst>
                  <a:outerShdw blurRad="38100" dist="25400" dir="5400000" algn="ctr" rotWithShape="0">
                    <a:srgbClr val="6E747A">
                      <a:alpha val="43000"/>
                    </a:srgbClr>
                  </a:outerShdw>
                </a:effectLst>
              </a:defRPr>
            </a:lvl1pPr>
          </a:lstStyle>
          <a:p>
            <a:r>
              <a:rPr lang="en-US" dirty="0"/>
              <a:t>Click to edit Master title style</a:t>
            </a:r>
            <a:endParaRPr lang="en-IN" dirty="0"/>
          </a:p>
        </p:txBody>
      </p:sp>
      <p:sp>
        <p:nvSpPr>
          <p:cNvPr id="3" name="Content Placeholder 2"/>
          <p:cNvSpPr>
            <a:spLocks noGrp="1"/>
          </p:cNvSpPr>
          <p:nvPr>
            <p:ph idx="1"/>
          </p:nvPr>
        </p:nvSpPr>
        <p:spPr>
          <a:xfrm>
            <a:off x="199505" y="1097279"/>
            <a:ext cx="11779135" cy="5394960"/>
          </a:xfrm>
        </p:spPr>
        <p:txBody>
          <a:bodyPr/>
          <a:lstStyle>
            <a:lvl1pPr marL="228600" indent="-228600">
              <a:buFont typeface="Wingdings" panose="05000000000000000000" pitchFamily="2" charset="2"/>
              <a:buChar char="Ø"/>
              <a:defRPr/>
            </a:lvl1pPr>
            <a:lvl2pPr marL="685800" indent="-228600">
              <a:buFont typeface="Wingdings" panose="05000000000000000000" pitchFamily="2" charset="2"/>
              <a:buChar char="q"/>
              <a:defRPr/>
            </a:lvl2pPr>
            <a:lvl3pPr marL="1143000" indent="-228600">
              <a:buFont typeface="Courier New" panose="02070309020205020404" pitchFamily="49" charset="0"/>
              <a:buChar char="o"/>
              <a:defRPr/>
            </a:lvl3pPr>
            <a:lvl4pPr marL="1600200" indent="-228600">
              <a:buFont typeface="Wingdings" panose="05000000000000000000" pitchFamily="2" charset="2"/>
              <a:buChar char="§"/>
              <a:defRPr/>
            </a:lvl4pPr>
            <a:lvl5pPr marL="2057400" indent="-228600">
              <a:buFont typeface="Arial" panose="020B0604020202020204" pitchFamily="34" charset="0"/>
              <a:buChar cha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Date Placeholder 3"/>
          <p:cNvSpPr txBox="1"/>
          <p:nvPr userDrawn="1"/>
        </p:nvSpPr>
        <p:spPr>
          <a:xfrm>
            <a:off x="777239" y="6642828"/>
            <a:ext cx="5654039" cy="215172"/>
          </a:xfrm>
          <a:prstGeom prst="rect">
            <a:avLst/>
          </a:prstGeom>
          <a:solidFill>
            <a:srgbClr val="00206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7" name="Date Placeholder 3"/>
          <p:cNvSpPr txBox="1"/>
          <p:nvPr userDrawn="1"/>
        </p:nvSpPr>
        <p:spPr>
          <a:xfrm>
            <a:off x="6431278" y="6641866"/>
            <a:ext cx="5322917" cy="216133"/>
          </a:xfrm>
          <a:prstGeom prst="rect">
            <a:avLst/>
          </a:prstGeom>
          <a:solidFill>
            <a:srgbClr val="008080"/>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Srinivasa Ramanujan Institute of Technology</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
        <p:nvSpPr>
          <p:cNvPr id="8" name="Date Placeholder 3"/>
          <p:cNvSpPr txBox="1"/>
          <p:nvPr userDrawn="1"/>
        </p:nvSpPr>
        <p:spPr>
          <a:xfrm>
            <a:off x="11754196" y="6641865"/>
            <a:ext cx="437803" cy="216133"/>
          </a:xfrm>
          <a:prstGeom prst="rect">
            <a:avLst/>
          </a:prstGeom>
          <a:solidFill>
            <a:schemeClr val="accent4"/>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DAC095C-C545-42F9-B93D-2B3224753C51}" type="slidenum">
              <a:rPr lang="en-US" sz="1600" b="1" smtClean="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fld>
            <a:endParaRPr lang="en-IN" sz="1600" b="1" dirty="0">
              <a:solidFill>
                <a:srgbClr val="00206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9" name="Date Placeholder 3"/>
          <p:cNvSpPr txBox="1"/>
          <p:nvPr userDrawn="1"/>
        </p:nvSpPr>
        <p:spPr>
          <a:xfrm>
            <a:off x="-1" y="0"/>
            <a:ext cx="12191999" cy="232759"/>
          </a:xfrm>
          <a:prstGeom prst="rect">
            <a:avLst/>
          </a:prstGeom>
          <a:solidFill>
            <a:srgbClr val="006666"/>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500" b="1" i="1" dirty="0">
                <a:solidFill>
                  <a:schemeClr val="bg1"/>
                </a:solidFill>
                <a:effectLst/>
                <a:latin typeface="Times New Roman" panose="02020603050405020304" pitchFamily="18" charset="0"/>
                <a:cs typeface="Times New Roman" panose="02020603050405020304" pitchFamily="18" charset="0"/>
              </a:rPr>
              <a:t>Optimizing Delivery Routes With Quantum Algorithms</a:t>
            </a:r>
            <a:endParaRPr lang="en-IN" sz="1500" b="1" i="1" dirty="0">
              <a:solidFill>
                <a:schemeClr val="bg1"/>
              </a:solidFill>
              <a:effectLst/>
              <a:latin typeface="Times New Roman" panose="02020603050405020304" pitchFamily="18" charset="0"/>
              <a:cs typeface="Times New Roman" panose="02020603050405020304" pitchFamily="18" charset="0"/>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506200" y="5956065"/>
            <a:ext cx="685800" cy="685800"/>
          </a:xfrm>
          <a:prstGeom prst="rect">
            <a:avLst/>
          </a:prstGeom>
        </p:spPr>
      </p:pic>
      <p:sp>
        <p:nvSpPr>
          <p:cNvPr id="10" name="Date Placeholder 3"/>
          <p:cNvSpPr txBox="1"/>
          <p:nvPr userDrawn="1"/>
        </p:nvSpPr>
        <p:spPr>
          <a:xfrm>
            <a:off x="0" y="6642828"/>
            <a:ext cx="777239" cy="215172"/>
          </a:xfrm>
          <a:prstGeom prst="rect">
            <a:avLst/>
          </a:prstGeom>
          <a:solidFill>
            <a:schemeClr val="accent2">
              <a:lumMod val="75000"/>
            </a:schemeClr>
          </a:solidFill>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b="0" cap="small" baseline="0" dirty="0">
                <a:solidFill>
                  <a:schemeClr val="bg1"/>
                </a:solidFill>
                <a:latin typeface="Times New Roman" panose="02020603050405020304" pitchFamily="18" charset="0"/>
                <a:cs typeface="Times New Roman" panose="02020603050405020304" pitchFamily="18" charset="0"/>
              </a:rPr>
              <a:t> B - 02</a:t>
            </a:r>
            <a:endParaRPr lang="en-IN" sz="1600" b="0" cap="small" baseline="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just" defTabSz="914400" rtl="0" eaLnBrk="1" latinLnBrk="0" hangingPunct="1">
        <a:lnSpc>
          <a:spcPct val="90000"/>
        </a:lnSpc>
        <a:spcBef>
          <a:spcPts val="1000"/>
        </a:spcBef>
        <a:buFont typeface="Wingdings" panose="05000000000000000000" pitchFamily="2" charset="2"/>
        <a:buChar char="q"/>
        <a:defRPr sz="28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just"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just" defTabSz="914400" rtl="0" eaLnBrk="1" latinLnBrk="0" hangingPunct="1">
        <a:lnSpc>
          <a:spcPct val="90000"/>
        </a:lnSpc>
        <a:spcBef>
          <a:spcPts val="500"/>
        </a:spcBef>
        <a:buFont typeface="Courier New" panose="02070309020205020404" pitchFamily="49" charset="0"/>
        <a:buChar char="o"/>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just"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crdownload"/><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11"/>
          <p:cNvSpPr txBox="1"/>
          <p:nvPr/>
        </p:nvSpPr>
        <p:spPr>
          <a:xfrm>
            <a:off x="6095991" y="1783000"/>
            <a:ext cx="2382924"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R Suraiah Khaisar</a:t>
            </a:r>
          </a:p>
          <a:p>
            <a:pPr>
              <a:spcBef>
                <a:spcPts val="300"/>
              </a:spcBef>
            </a:pPr>
            <a:r>
              <a:rPr lang="en-US" sz="1200" b="0" dirty="0"/>
              <a:t>Roll No. 224G1A3298</a:t>
            </a:r>
          </a:p>
        </p:txBody>
      </p:sp>
      <p:sp>
        <p:nvSpPr>
          <p:cNvPr id="6" name="Subtitle 11"/>
          <p:cNvSpPr txBox="1"/>
          <p:nvPr/>
        </p:nvSpPr>
        <p:spPr>
          <a:xfrm>
            <a:off x="3910519" y="2473265"/>
            <a:ext cx="4153711" cy="898049"/>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1400" b="0" i="1" dirty="0"/>
              <a:t>Under the guidance of</a:t>
            </a:r>
          </a:p>
          <a:p>
            <a:pPr>
              <a:spcBef>
                <a:spcPts val="300"/>
              </a:spcBef>
            </a:pPr>
            <a:r>
              <a:rPr lang="en-US" sz="2400" b="0" dirty="0">
                <a:effectLst>
                  <a:outerShdw blurRad="38100" dist="38100" dir="2700000" algn="tl">
                    <a:srgbClr val="000000">
                      <a:alpha val="43137"/>
                    </a:srgbClr>
                  </a:outerShdw>
                </a:effectLst>
              </a:rPr>
              <a:t>Mr. K Venkatesh </a:t>
            </a:r>
            <a:r>
              <a:rPr lang="en-US" sz="2400" b="0" baseline="-25000" dirty="0">
                <a:effectLst>
                  <a:outerShdw blurRad="38100" dist="38100" dir="2700000" algn="tl">
                    <a:srgbClr val="000000">
                      <a:alpha val="43137"/>
                    </a:srgbClr>
                  </a:outerShdw>
                </a:effectLst>
              </a:rPr>
              <a:t>M. Tech., (</a:t>
            </a:r>
            <a:r>
              <a:rPr lang="en-US" sz="2400" b="0" baseline="-25000" dirty="0" err="1">
                <a:effectLst>
                  <a:outerShdw blurRad="38100" dist="38100" dir="2700000" algn="tl">
                    <a:srgbClr val="000000">
                      <a:alpha val="43137"/>
                    </a:srgbClr>
                  </a:outerShdw>
                </a:effectLst>
              </a:rPr>
              <a:t>Ph.D</a:t>
            </a:r>
            <a:r>
              <a:rPr lang="en-US" sz="2400" b="0" baseline="-25000" dirty="0">
                <a:effectLst>
                  <a:outerShdw blurRad="38100" dist="38100" dir="2700000" algn="tl">
                    <a:srgbClr val="000000">
                      <a:alpha val="43137"/>
                    </a:srgbClr>
                  </a:outerShdw>
                </a:effectLst>
              </a:rPr>
              <a:t>)</a:t>
            </a:r>
            <a:endParaRPr lang="en-IN" sz="2400" b="0" baseline="-25000" dirty="0">
              <a:effectLst>
                <a:outerShdw blurRad="38100" dist="38100" dir="2700000" algn="tl">
                  <a:srgbClr val="000000">
                    <a:alpha val="43137"/>
                  </a:srgbClr>
                </a:outerShdw>
              </a:effectLst>
            </a:endParaRPr>
          </a:p>
          <a:p>
            <a:pPr>
              <a:spcBef>
                <a:spcPts val="200"/>
              </a:spcBef>
            </a:pPr>
            <a:r>
              <a:rPr lang="en-IN" sz="1400" b="0" dirty="0"/>
              <a:t>Assistant Professor</a:t>
            </a:r>
          </a:p>
          <a:p>
            <a:pPr>
              <a:spcBef>
                <a:spcPts val="200"/>
              </a:spcBef>
            </a:pPr>
            <a:endParaRPr lang="en-IN" sz="1400" b="0" dirty="0"/>
          </a:p>
        </p:txBody>
      </p:sp>
      <p:sp>
        <p:nvSpPr>
          <p:cNvPr id="7" name="Subtitle 11"/>
          <p:cNvSpPr txBox="1"/>
          <p:nvPr/>
        </p:nvSpPr>
        <p:spPr>
          <a:xfrm>
            <a:off x="1514475" y="5162533"/>
            <a:ext cx="9163049" cy="1427181"/>
          </a:xfrm>
          <a:prstGeom prst="rect">
            <a:avLst/>
          </a:prstGeom>
        </p:spPr>
        <p:txBody>
          <a:bodyPr vert="horz" lIns="91440" tIns="45720" rIns="91440" bIns="45720" rtlCol="0">
            <a:normAutofit fontScale="5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500"/>
              </a:spcBef>
            </a:pPr>
            <a:r>
              <a:rPr lang="en-US" sz="4200" b="0" dirty="0">
                <a:effectLst>
                  <a:outerShdw blurRad="38100" dist="38100" dir="2700000" algn="tl">
                    <a:srgbClr val="000000">
                      <a:alpha val="43137"/>
                    </a:srgbClr>
                  </a:outerShdw>
                </a:effectLst>
              </a:rPr>
              <a:t>Department of Computer Science and Engineering (Data Science)     </a:t>
            </a:r>
          </a:p>
          <a:p>
            <a:pPr>
              <a:spcBef>
                <a:spcPts val="500"/>
              </a:spcBef>
            </a:pPr>
            <a:r>
              <a:rPr lang="en-US" sz="6500" b="0" dirty="0">
                <a:solidFill>
                  <a:srgbClr val="FF0000"/>
                </a:solidFill>
                <a:effectLst>
                  <a:outerShdw blurRad="38100" dist="38100" dir="2700000" algn="tl">
                    <a:srgbClr val="000000">
                      <a:alpha val="43137"/>
                    </a:srgbClr>
                  </a:outerShdw>
                </a:effectLst>
              </a:rPr>
              <a:t>Srinivasa Ramanujan Institute of Technology</a:t>
            </a:r>
          </a:p>
          <a:p>
            <a:pPr>
              <a:spcBef>
                <a:spcPts val="300"/>
              </a:spcBef>
            </a:pPr>
            <a:r>
              <a:rPr lang="en-US" sz="2100" dirty="0">
                <a:effectLst/>
                <a:ea typeface="Times New Roman" panose="02020603050405020304" pitchFamily="18" charset="0"/>
              </a:rPr>
              <a:t>Autonomous</a:t>
            </a:r>
            <a:endParaRPr lang="en-US" sz="2100" b="0" dirty="0"/>
          </a:p>
          <a:p>
            <a:pPr>
              <a:spcBef>
                <a:spcPts val="300"/>
              </a:spcBef>
            </a:pPr>
            <a:r>
              <a:rPr lang="en-US" sz="2300" dirty="0" err="1"/>
              <a:t>Rotarypuram</a:t>
            </a:r>
            <a:r>
              <a:rPr lang="en-US" sz="2300" dirty="0"/>
              <a:t> Village, B K </a:t>
            </a:r>
            <a:r>
              <a:rPr lang="en-US" sz="2300" dirty="0" err="1"/>
              <a:t>Samudram</a:t>
            </a:r>
            <a:r>
              <a:rPr lang="en-US" sz="2300" dirty="0"/>
              <a:t> Mandal, </a:t>
            </a:r>
            <a:r>
              <a:rPr lang="en-US" sz="2300" dirty="0" err="1"/>
              <a:t>Ananthapuramu</a:t>
            </a:r>
            <a:r>
              <a:rPr lang="en-US" sz="2300" dirty="0"/>
              <a:t> – 515701.</a:t>
            </a:r>
          </a:p>
          <a:p>
            <a:pPr>
              <a:spcAft>
                <a:spcPts val="100"/>
              </a:spcAft>
            </a:pPr>
            <a:r>
              <a:rPr lang="en-US" sz="2500" dirty="0">
                <a:solidFill>
                  <a:schemeClr val="accent1">
                    <a:lumMod val="50000"/>
                  </a:schemeClr>
                </a:solidFill>
              </a:rPr>
              <a:t>2025-2026</a:t>
            </a:r>
            <a:endParaRPr lang="en-US" sz="2500" b="0" dirty="0"/>
          </a:p>
          <a:p>
            <a:endParaRPr lang="en-IN" b="0" dirty="0"/>
          </a:p>
        </p:txBody>
      </p:sp>
      <p:sp>
        <p:nvSpPr>
          <p:cNvPr id="12" name="Subtitle 11"/>
          <p:cNvSpPr txBox="1"/>
          <p:nvPr/>
        </p:nvSpPr>
        <p:spPr>
          <a:xfrm>
            <a:off x="3574384" y="1783000"/>
            <a:ext cx="2382924" cy="584534"/>
          </a:xfrm>
          <a:prstGeom prst="rect">
            <a:avLst/>
          </a:prstGeom>
        </p:spPr>
        <p:txBody>
          <a:bodyPr vert="horz" lIns="91440" tIns="45720" rIns="91440" bIns="45720" rtlCol="0">
            <a:normAutofit fontScale="85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N Naga Chaitanya</a:t>
            </a:r>
          </a:p>
          <a:p>
            <a:pPr>
              <a:spcBef>
                <a:spcPts val="300"/>
              </a:spcBef>
            </a:pPr>
            <a:r>
              <a:rPr lang="en-US" sz="1200" b="0" dirty="0"/>
              <a:t>Roll No. 224G1A3294</a:t>
            </a:r>
          </a:p>
        </p:txBody>
      </p:sp>
      <p:sp>
        <p:nvSpPr>
          <p:cNvPr id="13" name="Subtitle 11"/>
          <p:cNvSpPr txBox="1"/>
          <p:nvPr/>
        </p:nvSpPr>
        <p:spPr>
          <a:xfrm>
            <a:off x="8617598"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P </a:t>
            </a:r>
            <a:r>
              <a:rPr lang="en-US" sz="2600" b="0" dirty="0" err="1">
                <a:effectLst>
                  <a:outerShdw blurRad="38100" dist="38100" dir="2700000" algn="tl">
                    <a:srgbClr val="000000">
                      <a:alpha val="43137"/>
                    </a:srgbClr>
                  </a:outerShdw>
                </a:effectLst>
              </a:rPr>
              <a:t>Venkatanaveen</a:t>
            </a:r>
            <a:endParaRPr lang="en-US" sz="2600" b="0" dirty="0">
              <a:effectLst>
                <a:outerShdw blurRad="38100" dist="38100" dir="2700000" algn="tl">
                  <a:srgbClr val="000000">
                    <a:alpha val="43137"/>
                  </a:srgbClr>
                </a:outerShdw>
              </a:effectLst>
            </a:endParaRPr>
          </a:p>
          <a:p>
            <a:pPr>
              <a:spcBef>
                <a:spcPts val="300"/>
              </a:spcBef>
            </a:pPr>
            <a:r>
              <a:rPr lang="en-US" sz="1200" b="0" dirty="0"/>
              <a:t>Roll No. 2244G1A32B1</a:t>
            </a:r>
          </a:p>
        </p:txBody>
      </p:sp>
      <p:sp>
        <p:nvSpPr>
          <p:cNvPr id="14" name="Subtitle 11"/>
          <p:cNvSpPr txBox="1"/>
          <p:nvPr/>
        </p:nvSpPr>
        <p:spPr>
          <a:xfrm>
            <a:off x="1191460" y="1783000"/>
            <a:ext cx="2382924" cy="584534"/>
          </a:xfrm>
          <a:prstGeom prst="rect">
            <a:avLst/>
          </a:prstGeom>
        </p:spPr>
        <p:txBody>
          <a:bodyPr vert="horz" lIns="91440" tIns="45720" rIns="91440" bIns="45720" rtlCol="0">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800" b="1" kern="1200" baseline="0">
                <a:solidFill>
                  <a:schemeClr val="tx1"/>
                </a:solidFill>
                <a:latin typeface="Times New Roman" panose="02020603050405020304" pitchFamily="18" charset="0"/>
                <a:ea typeface="+mn-ea"/>
                <a:cs typeface="Times New Roman" panose="02020603050405020304" pitchFamily="18"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Times New Roman" panose="02020603050405020304" pitchFamily="18" charset="0"/>
                <a:ea typeface="+mn-ea"/>
                <a:cs typeface="Times New Roman" panose="02020603050405020304" pitchFamily="18"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Times New Roman" panose="02020603050405020304" pitchFamily="18" charset="0"/>
                <a:ea typeface="+mn-ea"/>
                <a:cs typeface="Times New Roman" panose="02020603050405020304" pitchFamily="18"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Times New Roman" panose="02020603050405020304" pitchFamily="18" charset="0"/>
                <a:ea typeface="+mn-ea"/>
                <a:cs typeface="Times New Roman" panose="020206030504050203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300"/>
              </a:spcBef>
            </a:pPr>
            <a:r>
              <a:rPr lang="en-US" sz="2600" b="0" dirty="0">
                <a:effectLst>
                  <a:outerShdw blurRad="38100" dist="38100" dir="2700000" algn="tl">
                    <a:srgbClr val="000000">
                      <a:alpha val="43137"/>
                    </a:srgbClr>
                  </a:outerShdw>
                </a:effectLst>
              </a:rPr>
              <a:t>B Arjun Dev</a:t>
            </a:r>
          </a:p>
          <a:p>
            <a:pPr>
              <a:spcBef>
                <a:spcPts val="300"/>
              </a:spcBef>
            </a:pPr>
            <a:r>
              <a:rPr lang="en-US" sz="1200" b="0" dirty="0"/>
              <a:t>Roll No. 234G5A3202</a:t>
            </a:r>
          </a:p>
        </p:txBody>
      </p:sp>
      <p:sp>
        <p:nvSpPr>
          <p:cNvPr id="17" name="Rectangle: Rounded Corners 16"/>
          <p:cNvSpPr/>
          <p:nvPr/>
        </p:nvSpPr>
        <p:spPr>
          <a:xfrm>
            <a:off x="755009" y="335271"/>
            <a:ext cx="10528183" cy="857864"/>
          </a:xfrm>
          <a:prstGeom prst="roundRect">
            <a:avLst/>
          </a:prstGeom>
          <a:solidFill>
            <a:srgbClr val="FF6600"/>
          </a:solidFill>
        </p:spPr>
        <p:style>
          <a:lnRef idx="0">
            <a:schemeClr val="accent6"/>
          </a:lnRef>
          <a:fillRef idx="3">
            <a:schemeClr val="accent6"/>
          </a:fillRef>
          <a:effectRef idx="3">
            <a:schemeClr val="accent6"/>
          </a:effectRef>
          <a:fontRef idx="minor">
            <a:schemeClr val="lt1"/>
          </a:fontRef>
        </p:style>
        <p:txBody>
          <a:bodyPr rtlCol="0" anchor="ctr"/>
          <a:lstStyle/>
          <a:p>
            <a:pPr algn="ctr"/>
            <a:r>
              <a:rPr lang="en-US"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Optimizing Delivery Routes With Quantum Algorithms</a:t>
            </a:r>
            <a:endParaRPr lang="en-IN" sz="32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18" name="Rectangle 17"/>
          <p:cNvSpPr/>
          <p:nvPr/>
        </p:nvSpPr>
        <p:spPr>
          <a:xfrm>
            <a:off x="2714840" y="1261696"/>
            <a:ext cx="6762303" cy="338041"/>
          </a:xfrm>
          <a:prstGeom prst="rect">
            <a:avLst/>
          </a:prstGeom>
        </p:spPr>
        <p:txBody>
          <a:bodyPr wrap="square">
            <a:spAutoFit/>
          </a:bodyPr>
          <a:lstStyle/>
          <a:p>
            <a:pPr algn="ctr">
              <a:lnSpc>
                <a:spcPct val="107000"/>
              </a:lnSpc>
              <a:spcBef>
                <a:spcPts val="500"/>
              </a:spcBef>
              <a:spcAft>
                <a:spcPts val="500"/>
              </a:spcAft>
            </a:pPr>
            <a:r>
              <a:rPr lang="en-IN" sz="1600" i="1" dirty="0">
                <a:solidFill>
                  <a:srgbClr val="000000"/>
                </a:solidFill>
                <a:latin typeface="Times New Roman" panose="02020603050405020304" pitchFamily="18" charset="0"/>
                <a:ea typeface="Calibri" panose="020F0502020204030204" pitchFamily="34" charset="0"/>
              </a:rPr>
              <a:t>by</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4154" y="3477046"/>
            <a:ext cx="1843673" cy="168548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24DFE5-F7A5-9ADB-AFD3-08EBD7A4FB1F}"/>
              </a:ext>
            </a:extLst>
          </p:cNvPr>
          <p:cNvSpPr>
            <a:spLocks noGrp="1"/>
          </p:cNvSpPr>
          <p:nvPr>
            <p:ph idx="1"/>
          </p:nvPr>
        </p:nvSpPr>
        <p:spPr/>
        <p:txBody>
          <a:bodyPr/>
          <a:lstStyle/>
          <a:p>
            <a:pPr marL="457200" indent="-457200"/>
            <a:r>
              <a:rPr lang="en-US" sz="2400" dirty="0"/>
              <a:t>What you will do when you choose an alternate path that consumes more fuel as you mentioned your system generates alternate paths when it faces and obstacle?</a:t>
            </a:r>
          </a:p>
          <a:p>
            <a:pPr marL="457200" indent="-457200"/>
            <a:r>
              <a:rPr lang="en-IN" sz="2400" dirty="0"/>
              <a:t>What is the difference between the existing solution and your approach or solution as similar system exist?</a:t>
            </a:r>
          </a:p>
          <a:p>
            <a:pPr marL="0" indent="0">
              <a:buNone/>
            </a:pPr>
            <a:endParaRPr lang="en-IN" dirty="0"/>
          </a:p>
        </p:txBody>
      </p:sp>
      <p:sp>
        <p:nvSpPr>
          <p:cNvPr id="4" name="TextBox 3">
            <a:extLst>
              <a:ext uri="{FF2B5EF4-FFF2-40B4-BE49-F238E27FC236}">
                <a16:creationId xmlns:a16="http://schemas.microsoft.com/office/drawing/2014/main" id="{49EAC6D0-633D-68AF-FBDC-3379CE227988}"/>
              </a:ext>
            </a:extLst>
          </p:cNvPr>
          <p:cNvSpPr txBox="1"/>
          <p:nvPr/>
        </p:nvSpPr>
        <p:spPr>
          <a:xfrm>
            <a:off x="301556" y="6590220"/>
            <a:ext cx="6692630"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5" name="Title 4"/>
          <p:cNvSpPr>
            <a:spLocks noGrp="1"/>
          </p:cNvSpPr>
          <p:nvPr>
            <p:ph type="title"/>
          </p:nvPr>
        </p:nvSpPr>
        <p:spPr/>
        <p:txBody>
          <a:bodyPr/>
          <a:lstStyle/>
          <a:p>
            <a:r>
              <a:rPr lang="en-US" dirty="0"/>
              <a:t>Review – 0 Comments </a:t>
            </a:r>
            <a:endParaRPr lang="en-IN" dirty="0"/>
          </a:p>
        </p:txBody>
      </p:sp>
    </p:spTree>
    <p:extLst>
      <p:ext uri="{BB962C8B-B14F-4D97-AF65-F5344CB8AC3E}">
        <p14:creationId xmlns:p14="http://schemas.microsoft.com/office/powerpoint/2010/main" val="1485356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BF6A4-4B0D-36E2-222B-A5C59C874F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4345A9-C24C-18C6-BD62-A5D861C477D4}"/>
              </a:ext>
            </a:extLst>
          </p:cNvPr>
          <p:cNvSpPr>
            <a:spLocks noGrp="1"/>
          </p:cNvSpPr>
          <p:nvPr>
            <p:ph idx="1"/>
          </p:nvPr>
        </p:nvSpPr>
        <p:spPr/>
        <p:txBody>
          <a:bodyPr/>
          <a:lstStyle/>
          <a:p>
            <a:pPr marL="457200" indent="-457200"/>
            <a:r>
              <a:rPr lang="en-US" sz="2400" dirty="0"/>
              <a:t>What exact parameters are used in your cost function, and how do you balance fuel cost, distance, travel time, and delivery deadlines?</a:t>
            </a:r>
          </a:p>
          <a:p>
            <a:pPr marL="457200" indent="-457200"/>
            <a:r>
              <a:rPr lang="en-US" sz="2400" dirty="0"/>
              <a:t>What method is used to prioritize on-time delivery over cost or distance when conflicts arise?</a:t>
            </a:r>
          </a:p>
          <a:p>
            <a:pPr marL="0" indent="0">
              <a:buNone/>
            </a:pPr>
            <a:endParaRPr lang="en-IN" dirty="0"/>
          </a:p>
        </p:txBody>
      </p:sp>
      <p:sp>
        <p:nvSpPr>
          <p:cNvPr id="4" name="TextBox 3">
            <a:extLst>
              <a:ext uri="{FF2B5EF4-FFF2-40B4-BE49-F238E27FC236}">
                <a16:creationId xmlns:a16="http://schemas.microsoft.com/office/drawing/2014/main" id="{E13BC477-088E-E676-2E36-A5DC0281046F}"/>
              </a:ext>
            </a:extLst>
          </p:cNvPr>
          <p:cNvSpPr txBox="1"/>
          <p:nvPr/>
        </p:nvSpPr>
        <p:spPr>
          <a:xfrm>
            <a:off x="301556" y="6590220"/>
            <a:ext cx="6692630"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0E31B2B2-3185-D340-36A6-3B960B391843}"/>
              </a:ext>
            </a:extLst>
          </p:cNvPr>
          <p:cNvSpPr>
            <a:spLocks noGrp="1"/>
          </p:cNvSpPr>
          <p:nvPr>
            <p:ph type="title"/>
          </p:nvPr>
        </p:nvSpPr>
        <p:spPr/>
        <p:txBody>
          <a:bodyPr/>
          <a:lstStyle/>
          <a:p>
            <a:r>
              <a:rPr lang="en-US" dirty="0"/>
              <a:t>Review – 1 Comments </a:t>
            </a:r>
            <a:endParaRPr lang="en-IN" dirty="0"/>
          </a:p>
        </p:txBody>
      </p:sp>
    </p:spTree>
    <p:extLst>
      <p:ext uri="{BB962C8B-B14F-4D97-AF65-F5344CB8AC3E}">
        <p14:creationId xmlns:p14="http://schemas.microsoft.com/office/powerpoint/2010/main" val="6779516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A1A1-B61A-C2BE-13CC-DCBF15E7ED9F}"/>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D392ECDA-A153-65FD-13C9-AFD9436AB93F}"/>
              </a:ext>
            </a:extLst>
          </p:cNvPr>
          <p:cNvSpPr>
            <a:spLocks noGrp="1"/>
          </p:cNvSpPr>
          <p:nvPr>
            <p:ph idx="1"/>
          </p:nvPr>
        </p:nvSpPr>
        <p:spPr/>
        <p:txBody>
          <a:bodyPr>
            <a:normAutofit/>
          </a:bodyPr>
          <a:lstStyle/>
          <a:p>
            <a:pPr marL="0" indent="0">
              <a:buNone/>
            </a:pPr>
            <a:r>
              <a:rPr lang="en-US" sz="2400" dirty="0"/>
              <a:t>This project presents a hybrid quantum–classical approach for optimizing delivery routes in dynamic environments. Traditional routing systems typically generate a single optimal route, which becomes unreliable when traffic congestion or roadblocks occur. To overcome this limitation, the proposed system generates multiple feasible delivery routes using classical heuristics and selects the optimal route using a quantum optimization algorithm. Customers are first clustered to reduce problem complexity, and candidate routes are filtered for feasibility before quantum execution. The Quantum Approximate Optimization Algorithm (QAOA) is applied to select efficient routes while maintaining stability through penalty normalization and multi-start execution. A simulation environment demonstrates continuous vehicle movement from a warehouse to customer destinations and dynamically switches to alternate routes when obstacles appear. The results show improved robustness, scalability, and adaptability compared to conventional single-route delivery systems.</a:t>
            </a:r>
            <a:endParaRPr lang="en-IN" sz="2400" dirty="0"/>
          </a:p>
        </p:txBody>
      </p:sp>
      <p:sp>
        <p:nvSpPr>
          <p:cNvPr id="6" name="TextBox 5">
            <a:extLst>
              <a:ext uri="{FF2B5EF4-FFF2-40B4-BE49-F238E27FC236}">
                <a16:creationId xmlns:a16="http://schemas.microsoft.com/office/drawing/2014/main" id="{BF40F755-754A-E706-EE17-DB4D51B7CBD3}"/>
              </a:ext>
            </a:extLst>
          </p:cNvPr>
          <p:cNvSpPr txBox="1"/>
          <p:nvPr/>
        </p:nvSpPr>
        <p:spPr>
          <a:xfrm>
            <a:off x="445042" y="6580111"/>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5885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90CBC-2267-4890-E7B4-52DA643B3B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1FB994-92E7-CF96-7B1E-F444FEC3628D}"/>
              </a:ext>
            </a:extLst>
          </p:cNvPr>
          <p:cNvSpPr>
            <a:spLocks noGrp="1"/>
          </p:cNvSpPr>
          <p:nvPr>
            <p:ph type="title"/>
          </p:nvPr>
        </p:nvSpPr>
        <p:spPr/>
        <p:txBody>
          <a:bodyPr/>
          <a:lstStyle/>
          <a:p>
            <a:r>
              <a:rPr lang="en-IN" dirty="0"/>
              <a:t>Problem Statement</a:t>
            </a:r>
          </a:p>
        </p:txBody>
      </p:sp>
      <p:sp>
        <p:nvSpPr>
          <p:cNvPr id="3" name="Content Placeholder 2">
            <a:extLst>
              <a:ext uri="{FF2B5EF4-FFF2-40B4-BE49-F238E27FC236}">
                <a16:creationId xmlns:a16="http://schemas.microsoft.com/office/drawing/2014/main" id="{6ECE7618-46F2-6FB7-5812-DF3DD363BF5D}"/>
              </a:ext>
            </a:extLst>
          </p:cNvPr>
          <p:cNvSpPr>
            <a:spLocks noGrp="1"/>
          </p:cNvSpPr>
          <p:nvPr>
            <p:ph idx="1"/>
          </p:nvPr>
        </p:nvSpPr>
        <p:spPr/>
        <p:txBody>
          <a:bodyPr>
            <a:normAutofit/>
          </a:bodyPr>
          <a:lstStyle/>
          <a:p>
            <a:pPr marL="0" indent="0">
              <a:lnSpc>
                <a:spcPct val="100000"/>
              </a:lnSpc>
              <a:buNone/>
            </a:pPr>
            <a:r>
              <a:rPr lang="en-US" sz="2400" dirty="0"/>
              <a:t>Traditional delivery routing systems generate only a single optimal route, which becomes unreliable in real-world conditions such as traffic congestion, roadblocks, or delays. Existing quantum and classical approaches also struggle with scalability, stability, and often produce incomplete solutions. Therefore, there is a need for a robust delivery routing system that can generate multiple feasible and efficient routes, ensuring timely deliveries and adaptability by switching to alternate routes when disruptions occur.</a:t>
            </a:r>
            <a:endParaRPr lang="en-IN" sz="2400" dirty="0"/>
          </a:p>
        </p:txBody>
      </p:sp>
      <p:sp>
        <p:nvSpPr>
          <p:cNvPr id="6" name="TextBox 5">
            <a:extLst>
              <a:ext uri="{FF2B5EF4-FFF2-40B4-BE49-F238E27FC236}">
                <a16:creationId xmlns:a16="http://schemas.microsoft.com/office/drawing/2014/main" id="{FA2D9434-CDD9-EC6A-59CA-B3BC8FE4E57E}"/>
              </a:ext>
            </a:extLst>
          </p:cNvPr>
          <p:cNvSpPr txBox="1"/>
          <p:nvPr/>
        </p:nvSpPr>
        <p:spPr>
          <a:xfrm>
            <a:off x="445042" y="6580111"/>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353041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D7171-E2B7-DC4A-D78D-DEE959C3C7D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BE9F29-E5C6-F1CD-5FC8-2534AB7A4BAE}"/>
              </a:ext>
            </a:extLst>
          </p:cNvPr>
          <p:cNvSpPr>
            <a:spLocks noGrp="1"/>
          </p:cNvSpPr>
          <p:nvPr>
            <p:ph idx="1"/>
          </p:nvPr>
        </p:nvSpPr>
        <p:spPr/>
        <p:txBody>
          <a:bodyPr>
            <a:noAutofit/>
          </a:bodyPr>
          <a:lstStyle/>
          <a:p>
            <a:pPr marL="457200" indent="-457200"/>
            <a:r>
              <a:rPr lang="en-US" sz="2400" b="1" dirty="0"/>
              <a:t>To Develop a Scalable Hybrid Quantum–Classical Routing Framework: </a:t>
            </a:r>
            <a:r>
              <a:rPr lang="en-US" sz="2400" dirty="0"/>
              <a:t>To design a hybrid quantum–classical routing framework using clustering and QAOA to optimize large delivery networks efficiently on near-term quantum hardware.</a:t>
            </a:r>
          </a:p>
          <a:p>
            <a:pPr marL="457200" indent="-457200"/>
            <a:endParaRPr lang="en-US" sz="2400" b="1" dirty="0"/>
          </a:p>
          <a:p>
            <a:pPr marL="457200" indent="-457200"/>
            <a:r>
              <a:rPr lang="en-US" sz="2400" b="1" dirty="0"/>
              <a:t>To Generate Multiple Optimized and Alternate Delivery Routes: </a:t>
            </a:r>
            <a:r>
              <a:rPr lang="en-US" sz="2400" dirty="0"/>
              <a:t>To generate a primary route and multiple alternate routes using heuristic and quantum optimization for quick adaptation to traffic and route disruptions.</a:t>
            </a:r>
            <a:endParaRPr lang="en-US" sz="2400" b="1" dirty="0"/>
          </a:p>
          <a:p>
            <a:pPr marL="457200" indent="-457200"/>
            <a:endParaRPr lang="en-US" sz="2400" b="1" dirty="0"/>
          </a:p>
          <a:p>
            <a:pPr marL="457200" indent="-457200"/>
            <a:r>
              <a:rPr lang="en-US" sz="2400" b="1" dirty="0"/>
              <a:t>To Improve Solution Stability and Reliability through Automated Optimization: </a:t>
            </a:r>
            <a:r>
              <a:rPr lang="en-US" sz="2400" dirty="0"/>
              <a:t>To improve solution reliability through automated penalty tuning, feasibility filtering, and repair mechanisms, ensuring consistent and feasible routing results.</a:t>
            </a:r>
          </a:p>
        </p:txBody>
      </p:sp>
      <p:sp>
        <p:nvSpPr>
          <p:cNvPr id="6" name="TextBox 5">
            <a:extLst>
              <a:ext uri="{FF2B5EF4-FFF2-40B4-BE49-F238E27FC236}">
                <a16:creationId xmlns:a16="http://schemas.microsoft.com/office/drawing/2014/main" id="{04A43C8D-0576-B267-CEF8-A4601EA7D986}"/>
              </a:ext>
            </a:extLst>
          </p:cNvPr>
          <p:cNvSpPr txBox="1"/>
          <p:nvPr/>
        </p:nvSpPr>
        <p:spPr>
          <a:xfrm>
            <a:off x="445042" y="6580111"/>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E82789E8-3253-9F47-0C17-AF8424F7192D}"/>
              </a:ext>
            </a:extLst>
          </p:cNvPr>
          <p:cNvSpPr>
            <a:spLocks noGrp="1"/>
          </p:cNvSpPr>
          <p:nvPr>
            <p:ph type="title"/>
          </p:nvPr>
        </p:nvSpPr>
        <p:spPr/>
        <p:txBody>
          <a:bodyPr/>
          <a:lstStyle/>
          <a:p>
            <a:r>
              <a:rPr lang="en-US" dirty="0"/>
              <a:t>Objectives</a:t>
            </a:r>
            <a:endParaRPr lang="en-IN" dirty="0"/>
          </a:p>
        </p:txBody>
      </p:sp>
    </p:spTree>
    <p:extLst>
      <p:ext uri="{BB962C8B-B14F-4D97-AF65-F5344CB8AC3E}">
        <p14:creationId xmlns:p14="http://schemas.microsoft.com/office/powerpoint/2010/main" val="1083228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7ECD0-BEA7-B9D8-B2E3-C513FAFEC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76304-E2C7-DCCB-65FA-C7875646305A}"/>
              </a:ext>
            </a:extLst>
          </p:cNvPr>
          <p:cNvSpPr>
            <a:spLocks noGrp="1"/>
          </p:cNvSpPr>
          <p:nvPr>
            <p:ph type="title"/>
          </p:nvPr>
        </p:nvSpPr>
        <p:spPr>
          <a:xfrm>
            <a:off x="0" y="251231"/>
            <a:ext cx="12192000" cy="714892"/>
          </a:xfrm>
        </p:spPr>
        <p:txBody>
          <a:bodyPr/>
          <a:lstStyle/>
          <a:p>
            <a:r>
              <a:rPr lang="en-US" b="1" dirty="0">
                <a:sym typeface="+mn-ea"/>
              </a:rPr>
              <a:t> </a:t>
            </a:r>
            <a:r>
              <a:rPr lang="en-US" dirty="0">
                <a:sym typeface="+mn-ea"/>
              </a:rPr>
              <a:t> Literature survey</a:t>
            </a:r>
            <a:endParaRPr lang="en-US" dirty="0"/>
          </a:p>
        </p:txBody>
      </p:sp>
      <p:graphicFrame>
        <p:nvGraphicFramePr>
          <p:cNvPr id="4" name="Content Placeholder 3">
            <a:extLst>
              <a:ext uri="{FF2B5EF4-FFF2-40B4-BE49-F238E27FC236}">
                <a16:creationId xmlns:a16="http://schemas.microsoft.com/office/drawing/2014/main" id="{8B5A6F32-D0D4-FFA5-09B4-2DEB378D97CD}"/>
              </a:ext>
            </a:extLst>
          </p:cNvPr>
          <p:cNvGraphicFramePr>
            <a:graphicFrameLocks noGrp="1"/>
          </p:cNvGraphicFramePr>
          <p:nvPr>
            <p:ph idx="1"/>
            <p:extLst>
              <p:ext uri="{D42A27DB-BD31-4B8C-83A1-F6EECF244321}">
                <p14:modId xmlns:p14="http://schemas.microsoft.com/office/powerpoint/2010/main" val="3224296166"/>
              </p:ext>
            </p:extLst>
          </p:nvPr>
        </p:nvGraphicFramePr>
        <p:xfrm>
          <a:off x="335902" y="1063028"/>
          <a:ext cx="11168743" cy="5446836"/>
        </p:xfrm>
        <a:graphic>
          <a:graphicData uri="http://schemas.openxmlformats.org/drawingml/2006/table">
            <a:tbl>
              <a:tblPr>
                <a:tableStyleId>{5C22544A-7EE6-4342-B048-85BDC9FD1C3A}</a:tableStyleId>
              </a:tblPr>
              <a:tblGrid>
                <a:gridCol w="3309154">
                  <a:extLst>
                    <a:ext uri="{9D8B030D-6E8A-4147-A177-3AD203B41FA5}">
                      <a16:colId xmlns:a16="http://schemas.microsoft.com/office/drawing/2014/main" val="1775823184"/>
                    </a:ext>
                  </a:extLst>
                </a:gridCol>
                <a:gridCol w="2619863">
                  <a:extLst>
                    <a:ext uri="{9D8B030D-6E8A-4147-A177-3AD203B41FA5}">
                      <a16:colId xmlns:a16="http://schemas.microsoft.com/office/drawing/2014/main" val="2125278748"/>
                    </a:ext>
                  </a:extLst>
                </a:gridCol>
                <a:gridCol w="2619863">
                  <a:extLst>
                    <a:ext uri="{9D8B030D-6E8A-4147-A177-3AD203B41FA5}">
                      <a16:colId xmlns:a16="http://schemas.microsoft.com/office/drawing/2014/main" val="2066257398"/>
                    </a:ext>
                  </a:extLst>
                </a:gridCol>
                <a:gridCol w="2619863">
                  <a:extLst>
                    <a:ext uri="{9D8B030D-6E8A-4147-A177-3AD203B41FA5}">
                      <a16:colId xmlns:a16="http://schemas.microsoft.com/office/drawing/2014/main" val="2523066129"/>
                    </a:ext>
                  </a:extLst>
                </a:gridCol>
              </a:tblGrid>
              <a:tr h="416434">
                <a:tc>
                  <a:txBody>
                    <a:bodyPr/>
                    <a:lstStyle/>
                    <a:p>
                      <a:pPr algn="ctr">
                        <a:buNone/>
                      </a:pPr>
                      <a:r>
                        <a:rPr lang="en-IN" sz="2200" b="1" dirty="0">
                          <a:latin typeface="Times New Roman" panose="02020603050405020304" pitchFamily="18" charset="0"/>
                          <a:cs typeface="Times New Roman" panose="02020603050405020304" pitchFamily="18" charset="0"/>
                        </a:rPr>
                        <a:t>Paper</a:t>
                      </a:r>
                      <a:endParaRPr lang="en-IN" sz="22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200" b="1" dirty="0">
                          <a:latin typeface="Times New Roman" panose="02020603050405020304" pitchFamily="18" charset="0"/>
                          <a:cs typeface="Times New Roman" panose="02020603050405020304" pitchFamily="18" charset="0"/>
                        </a:rPr>
                        <a:t>Method Used</a:t>
                      </a:r>
                      <a:endParaRPr lang="en-IN" sz="22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200" b="1" dirty="0">
                          <a:latin typeface="Times New Roman" panose="02020603050405020304" pitchFamily="18" charset="0"/>
                          <a:cs typeface="Times New Roman" panose="02020603050405020304" pitchFamily="18" charset="0"/>
                        </a:rPr>
                        <a:t>Key Finding</a:t>
                      </a:r>
                      <a:endParaRPr lang="en-IN" sz="22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2200" b="1" dirty="0">
                          <a:latin typeface="Times New Roman" panose="02020603050405020304" pitchFamily="18" charset="0"/>
                          <a:cs typeface="Times New Roman" panose="02020603050405020304" pitchFamily="18" charset="0"/>
                        </a:rPr>
                        <a:t>Research Gap</a:t>
                      </a:r>
                      <a:endParaRPr lang="en-IN" sz="22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583601964"/>
                  </a:ext>
                </a:extLst>
              </a:tr>
              <a:tr h="743632">
                <a:tc>
                  <a:txBody>
                    <a:bodyPr/>
                    <a:lstStyle/>
                    <a:p>
                      <a:pPr>
                        <a:buNone/>
                      </a:pPr>
                      <a:r>
                        <a:rPr lang="en-IN" sz="2200" dirty="0">
                          <a:latin typeface="Times New Roman" panose="02020603050405020304" pitchFamily="18" charset="0"/>
                          <a:cs typeface="Times New Roman" panose="02020603050405020304" pitchFamily="18" charset="0"/>
                        </a:rPr>
                        <a:t>QAOA for VRP [1]</a:t>
                      </a:r>
                    </a:p>
                  </a:txBody>
                  <a:tcPr anchor="ctr"/>
                </a:tc>
                <a:tc>
                  <a:txBody>
                    <a:bodyPr/>
                    <a:lstStyle/>
                    <a:p>
                      <a:pPr>
                        <a:buNone/>
                      </a:pPr>
                      <a:r>
                        <a:rPr lang="en-IN" sz="2200">
                          <a:latin typeface="Times New Roman" panose="02020603050405020304" pitchFamily="18" charset="0"/>
                          <a:cs typeface="Times New Roman" panose="02020603050405020304" pitchFamily="18" charset="0"/>
                        </a:rPr>
                        <a:t>QUBO + QAOA</a:t>
                      </a:r>
                    </a:p>
                  </a:txBody>
                  <a:tcPr anchor="ctr"/>
                </a:tc>
                <a:tc>
                  <a:txBody>
                    <a:bodyPr/>
                    <a:lstStyle/>
                    <a:p>
                      <a:pPr>
                        <a:buNone/>
                      </a:pPr>
                      <a:r>
                        <a:rPr lang="en-IN" sz="2200">
                          <a:latin typeface="Times New Roman" panose="02020603050405020304" pitchFamily="18" charset="0"/>
                          <a:cs typeface="Times New Roman" panose="02020603050405020304" pitchFamily="18" charset="0"/>
                        </a:rPr>
                        <a:t>Works for small routes</a:t>
                      </a:r>
                    </a:p>
                  </a:txBody>
                  <a:tcPr anchor="ctr"/>
                </a:tc>
                <a:tc>
                  <a:txBody>
                    <a:bodyPr/>
                    <a:lstStyle/>
                    <a:p>
                      <a:pPr>
                        <a:buNone/>
                      </a:pPr>
                      <a:r>
                        <a:rPr lang="en-IN" sz="2200">
                          <a:latin typeface="Times New Roman" panose="02020603050405020304" pitchFamily="18" charset="0"/>
                          <a:cs typeface="Times New Roman" panose="02020603050405020304" pitchFamily="18" charset="0"/>
                        </a:rPr>
                        <a:t>Poor scalability</a:t>
                      </a:r>
                    </a:p>
                  </a:txBody>
                  <a:tcPr anchor="ctr"/>
                </a:tc>
                <a:extLst>
                  <a:ext uri="{0D108BD9-81ED-4DB2-BD59-A6C34878D82A}">
                    <a16:rowId xmlns:a16="http://schemas.microsoft.com/office/drawing/2014/main" val="3776952747"/>
                  </a:ext>
                </a:extLst>
              </a:tr>
              <a:tr h="743632">
                <a:tc>
                  <a:txBody>
                    <a:bodyPr/>
                    <a:lstStyle/>
                    <a:p>
                      <a:pPr>
                        <a:buNone/>
                      </a:pPr>
                      <a:r>
                        <a:rPr lang="en-IN" sz="2200" dirty="0">
                          <a:latin typeface="Times New Roman" panose="02020603050405020304" pitchFamily="18" charset="0"/>
                          <a:cs typeface="Times New Roman" panose="02020603050405020304" pitchFamily="18" charset="0"/>
                        </a:rPr>
                        <a:t>Quantum Annealing VRPTW [2]</a:t>
                      </a:r>
                    </a:p>
                  </a:txBody>
                  <a:tcPr anchor="ctr"/>
                </a:tc>
                <a:tc>
                  <a:txBody>
                    <a:bodyPr/>
                    <a:lstStyle/>
                    <a:p>
                      <a:pPr>
                        <a:buNone/>
                      </a:pPr>
                      <a:r>
                        <a:rPr lang="en-IN" sz="2200">
                          <a:latin typeface="Times New Roman" panose="02020603050405020304" pitchFamily="18" charset="0"/>
                          <a:cs typeface="Times New Roman" panose="02020603050405020304" pitchFamily="18" charset="0"/>
                        </a:rPr>
                        <a:t>D-Wave + repair</a:t>
                      </a:r>
                    </a:p>
                  </a:txBody>
                  <a:tcPr anchor="ctr"/>
                </a:tc>
                <a:tc>
                  <a:txBody>
                    <a:bodyPr/>
                    <a:lstStyle/>
                    <a:p>
                      <a:pPr>
                        <a:buNone/>
                      </a:pPr>
                      <a:r>
                        <a:rPr lang="en-IN" sz="2200">
                          <a:latin typeface="Times New Roman" panose="02020603050405020304" pitchFamily="18" charset="0"/>
                          <a:cs typeface="Times New Roman" panose="02020603050405020304" pitchFamily="18" charset="0"/>
                        </a:rPr>
                        <a:t>Cost minimized</a:t>
                      </a:r>
                    </a:p>
                  </a:txBody>
                  <a:tcPr anchor="ctr"/>
                </a:tc>
                <a:tc>
                  <a:txBody>
                    <a:bodyPr/>
                    <a:lstStyle/>
                    <a:p>
                      <a:pPr>
                        <a:buNone/>
                      </a:pPr>
                      <a:r>
                        <a:rPr lang="en-IN" sz="2200">
                          <a:latin typeface="Times New Roman" panose="02020603050405020304" pitchFamily="18" charset="0"/>
                          <a:cs typeface="Times New Roman" panose="02020603050405020304" pitchFamily="18" charset="0"/>
                        </a:rPr>
                        <a:t>Needs heavy repair</a:t>
                      </a:r>
                    </a:p>
                  </a:txBody>
                  <a:tcPr anchor="ctr"/>
                </a:tc>
                <a:extLst>
                  <a:ext uri="{0D108BD9-81ED-4DB2-BD59-A6C34878D82A}">
                    <a16:rowId xmlns:a16="http://schemas.microsoft.com/office/drawing/2014/main" val="467958408"/>
                  </a:ext>
                </a:extLst>
              </a:tr>
              <a:tr h="657372">
                <a:tc>
                  <a:txBody>
                    <a:bodyPr/>
                    <a:lstStyle/>
                    <a:p>
                      <a:pPr>
                        <a:buNone/>
                      </a:pPr>
                      <a:r>
                        <a:rPr lang="en-IN" sz="2200" dirty="0">
                          <a:latin typeface="Times New Roman" panose="02020603050405020304" pitchFamily="18" charset="0"/>
                          <a:cs typeface="Times New Roman" panose="02020603050405020304" pitchFamily="18" charset="0"/>
                        </a:rPr>
                        <a:t>Hybrid Decomposition [3]</a:t>
                      </a:r>
                    </a:p>
                  </a:txBody>
                  <a:tcPr anchor="ctr"/>
                </a:tc>
                <a:tc>
                  <a:txBody>
                    <a:bodyPr/>
                    <a:lstStyle/>
                    <a:p>
                      <a:pPr>
                        <a:buNone/>
                      </a:pPr>
                      <a:r>
                        <a:rPr lang="en-IN" sz="2200">
                          <a:latin typeface="Times New Roman" panose="02020603050405020304" pitchFamily="18" charset="0"/>
                          <a:cs typeface="Times New Roman" panose="02020603050405020304" pitchFamily="18" charset="0"/>
                        </a:rPr>
                        <a:t>Problem splitting</a:t>
                      </a:r>
                    </a:p>
                  </a:txBody>
                  <a:tcPr anchor="ctr"/>
                </a:tc>
                <a:tc>
                  <a:txBody>
                    <a:bodyPr/>
                    <a:lstStyle/>
                    <a:p>
                      <a:pPr>
                        <a:buNone/>
                      </a:pPr>
                      <a:r>
                        <a:rPr lang="en-IN" sz="2200">
                          <a:latin typeface="Times New Roman" panose="02020603050405020304" pitchFamily="18" charset="0"/>
                          <a:cs typeface="Times New Roman" panose="02020603050405020304" pitchFamily="18" charset="0"/>
                        </a:rPr>
                        <a:t>Better scalability</a:t>
                      </a:r>
                    </a:p>
                  </a:txBody>
                  <a:tcPr anchor="ctr"/>
                </a:tc>
                <a:tc>
                  <a:txBody>
                    <a:bodyPr/>
                    <a:lstStyle/>
                    <a:p>
                      <a:pPr>
                        <a:buNone/>
                      </a:pPr>
                      <a:r>
                        <a:rPr lang="en-IN" sz="2200">
                          <a:latin typeface="Times New Roman" panose="02020603050405020304" pitchFamily="18" charset="0"/>
                          <a:cs typeface="Times New Roman" panose="02020603050405020304" pitchFamily="18" charset="0"/>
                        </a:rPr>
                        <a:t>No dynamic routing</a:t>
                      </a:r>
                    </a:p>
                  </a:txBody>
                  <a:tcPr anchor="ctr"/>
                </a:tc>
                <a:extLst>
                  <a:ext uri="{0D108BD9-81ED-4DB2-BD59-A6C34878D82A}">
                    <a16:rowId xmlns:a16="http://schemas.microsoft.com/office/drawing/2014/main" val="3312221863"/>
                  </a:ext>
                </a:extLst>
              </a:tr>
              <a:tr h="743632">
                <a:tc>
                  <a:txBody>
                    <a:bodyPr/>
                    <a:lstStyle/>
                    <a:p>
                      <a:pPr>
                        <a:buNone/>
                      </a:pPr>
                      <a:r>
                        <a:rPr lang="en-IN" sz="2200" dirty="0">
                          <a:latin typeface="Times New Roman" panose="02020603050405020304" pitchFamily="18" charset="0"/>
                          <a:cs typeface="Times New Roman" panose="02020603050405020304" pitchFamily="18" charset="0"/>
                        </a:rPr>
                        <a:t>Q4RPD Framework [4]</a:t>
                      </a:r>
                    </a:p>
                  </a:txBody>
                  <a:tcPr anchor="ctr"/>
                </a:tc>
                <a:tc>
                  <a:txBody>
                    <a:bodyPr/>
                    <a:lstStyle/>
                    <a:p>
                      <a:pPr>
                        <a:buNone/>
                      </a:pPr>
                      <a:r>
                        <a:rPr lang="en-IN" sz="2200">
                          <a:latin typeface="Times New Roman" panose="02020603050405020304" pitchFamily="18" charset="0"/>
                          <a:cs typeface="Times New Roman" panose="02020603050405020304" pitchFamily="18" charset="0"/>
                        </a:rPr>
                        <a:t>Hybrid QA + classical</a:t>
                      </a:r>
                    </a:p>
                  </a:txBody>
                  <a:tcPr anchor="ctr"/>
                </a:tc>
                <a:tc>
                  <a:txBody>
                    <a:bodyPr/>
                    <a:lstStyle/>
                    <a:p>
                      <a:pPr>
                        <a:buNone/>
                      </a:pPr>
                      <a:r>
                        <a:rPr lang="en-IN" sz="2200">
                          <a:latin typeface="Times New Roman" panose="02020603050405020304" pitchFamily="18" charset="0"/>
                          <a:cs typeface="Times New Roman" panose="02020603050405020304" pitchFamily="18" charset="0"/>
                        </a:rPr>
                        <a:t>Handles constraints</a:t>
                      </a:r>
                    </a:p>
                  </a:txBody>
                  <a:tcPr anchor="ctr"/>
                </a:tc>
                <a:tc>
                  <a:txBody>
                    <a:bodyPr/>
                    <a:lstStyle/>
                    <a:p>
                      <a:pPr>
                        <a:buNone/>
                      </a:pPr>
                      <a:r>
                        <a:rPr lang="en-IN" sz="2200" dirty="0">
                          <a:latin typeface="Times New Roman" panose="02020603050405020304" pitchFamily="18" charset="0"/>
                          <a:cs typeface="Times New Roman" panose="02020603050405020304" pitchFamily="18" charset="0"/>
                        </a:rPr>
                        <a:t>No route switching</a:t>
                      </a:r>
                    </a:p>
                  </a:txBody>
                  <a:tcPr anchor="ctr"/>
                </a:tc>
                <a:extLst>
                  <a:ext uri="{0D108BD9-81ED-4DB2-BD59-A6C34878D82A}">
                    <a16:rowId xmlns:a16="http://schemas.microsoft.com/office/drawing/2014/main" val="1864178319"/>
                  </a:ext>
                </a:extLst>
              </a:tr>
              <a:tr h="657372">
                <a:tc>
                  <a:txBody>
                    <a:bodyPr/>
                    <a:lstStyle/>
                    <a:p>
                      <a:pPr>
                        <a:buNone/>
                      </a:pPr>
                      <a:r>
                        <a:rPr lang="en-IN" sz="2200" dirty="0">
                          <a:latin typeface="Times New Roman" panose="02020603050405020304" pitchFamily="18" charset="0"/>
                          <a:cs typeface="Times New Roman" panose="02020603050405020304" pitchFamily="18" charset="0"/>
                        </a:rPr>
                        <a:t>Real-World QA Routing [5]</a:t>
                      </a:r>
                    </a:p>
                  </a:txBody>
                  <a:tcPr anchor="ctr"/>
                </a:tc>
                <a:tc>
                  <a:txBody>
                    <a:bodyPr/>
                    <a:lstStyle/>
                    <a:p>
                      <a:pPr>
                        <a:buNone/>
                      </a:pPr>
                      <a:r>
                        <a:rPr lang="en-IN" sz="2200">
                          <a:latin typeface="Times New Roman" panose="02020603050405020304" pitchFamily="18" charset="0"/>
                          <a:cs typeface="Times New Roman" panose="02020603050405020304" pitchFamily="18" charset="0"/>
                        </a:rPr>
                        <a:t>Quantum annealing</a:t>
                      </a:r>
                    </a:p>
                  </a:txBody>
                  <a:tcPr anchor="ctr"/>
                </a:tc>
                <a:tc>
                  <a:txBody>
                    <a:bodyPr/>
                    <a:lstStyle/>
                    <a:p>
                      <a:pPr>
                        <a:buNone/>
                      </a:pPr>
                      <a:r>
                        <a:rPr lang="en-IN" sz="2200">
                          <a:latin typeface="Times New Roman" panose="02020603050405020304" pitchFamily="18" charset="0"/>
                          <a:cs typeface="Times New Roman" panose="02020603050405020304" pitchFamily="18" charset="0"/>
                        </a:rPr>
                        <a:t>Feasible small cases</a:t>
                      </a:r>
                    </a:p>
                  </a:txBody>
                  <a:tcPr anchor="ctr"/>
                </a:tc>
                <a:tc>
                  <a:txBody>
                    <a:bodyPr/>
                    <a:lstStyle/>
                    <a:p>
                      <a:pPr>
                        <a:buNone/>
                      </a:pPr>
                      <a:r>
                        <a:rPr lang="en-IN" sz="2200">
                          <a:latin typeface="Times New Roman" panose="02020603050405020304" pitchFamily="18" charset="0"/>
                          <a:cs typeface="Times New Roman" panose="02020603050405020304" pitchFamily="18" charset="0"/>
                        </a:rPr>
                        <a:t>No execution demo</a:t>
                      </a:r>
                    </a:p>
                  </a:txBody>
                  <a:tcPr anchor="ctr"/>
                </a:tc>
                <a:extLst>
                  <a:ext uri="{0D108BD9-81ED-4DB2-BD59-A6C34878D82A}">
                    <a16:rowId xmlns:a16="http://schemas.microsoft.com/office/drawing/2014/main" val="2767578797"/>
                  </a:ext>
                </a:extLst>
              </a:tr>
              <a:tr h="657372">
                <a:tc>
                  <a:txBody>
                    <a:bodyPr/>
                    <a:lstStyle/>
                    <a:p>
                      <a:pPr>
                        <a:buNone/>
                      </a:pPr>
                      <a:r>
                        <a:rPr lang="en-IN" sz="2200" dirty="0">
                          <a:latin typeface="Times New Roman" panose="02020603050405020304" pitchFamily="18" charset="0"/>
                          <a:cs typeface="Times New Roman" panose="02020603050405020304" pitchFamily="18" charset="0"/>
                        </a:rPr>
                        <a:t>Transport Optimization [6]</a:t>
                      </a:r>
                    </a:p>
                  </a:txBody>
                  <a:tcPr anchor="ctr"/>
                </a:tc>
                <a:tc>
                  <a:txBody>
                    <a:bodyPr/>
                    <a:lstStyle/>
                    <a:p>
                      <a:pPr>
                        <a:buNone/>
                      </a:pPr>
                      <a:r>
                        <a:rPr lang="en-IN" sz="2200">
                          <a:latin typeface="Times New Roman" panose="02020603050405020304" pitchFamily="18" charset="0"/>
                          <a:cs typeface="Times New Roman" panose="02020603050405020304" pitchFamily="18" charset="0"/>
                        </a:rPr>
                        <a:t>Hybrid QC analysis</a:t>
                      </a:r>
                    </a:p>
                  </a:txBody>
                  <a:tcPr anchor="ctr"/>
                </a:tc>
                <a:tc>
                  <a:txBody>
                    <a:bodyPr/>
                    <a:lstStyle/>
                    <a:p>
                      <a:pPr>
                        <a:buNone/>
                      </a:pPr>
                      <a:r>
                        <a:rPr lang="en-IN" sz="2200">
                          <a:latin typeface="Times New Roman" panose="02020603050405020304" pitchFamily="18" charset="0"/>
                          <a:cs typeface="Times New Roman" panose="02020603050405020304" pitchFamily="18" charset="0"/>
                        </a:rPr>
                        <a:t>QC helps small cases</a:t>
                      </a:r>
                    </a:p>
                  </a:txBody>
                  <a:tcPr anchor="ctr"/>
                </a:tc>
                <a:tc>
                  <a:txBody>
                    <a:bodyPr/>
                    <a:lstStyle/>
                    <a:p>
                      <a:pPr>
                        <a:buNone/>
                      </a:pPr>
                      <a:r>
                        <a:rPr lang="en-IN" sz="2200">
                          <a:latin typeface="Times New Roman" panose="02020603050405020304" pitchFamily="18" charset="0"/>
                          <a:cs typeface="Times New Roman" panose="02020603050405020304" pitchFamily="18" charset="0"/>
                        </a:rPr>
                        <a:t>Hardware limits</a:t>
                      </a:r>
                    </a:p>
                  </a:txBody>
                  <a:tcPr anchor="ctr"/>
                </a:tc>
                <a:extLst>
                  <a:ext uri="{0D108BD9-81ED-4DB2-BD59-A6C34878D82A}">
                    <a16:rowId xmlns:a16="http://schemas.microsoft.com/office/drawing/2014/main" val="645775754"/>
                  </a:ext>
                </a:extLst>
              </a:tr>
              <a:tr h="743632">
                <a:tc>
                  <a:txBody>
                    <a:bodyPr/>
                    <a:lstStyle/>
                    <a:p>
                      <a:pPr>
                        <a:buNone/>
                      </a:pPr>
                      <a:r>
                        <a:rPr lang="en-IN" sz="2200" dirty="0">
                          <a:latin typeface="Times New Roman" panose="02020603050405020304" pitchFamily="18" charset="0"/>
                          <a:cs typeface="Times New Roman" panose="02020603050405020304" pitchFamily="18" charset="0"/>
                        </a:rPr>
                        <a:t>Classical Routing [7]</a:t>
                      </a:r>
                    </a:p>
                  </a:txBody>
                  <a:tcPr anchor="ctr"/>
                </a:tc>
                <a:tc>
                  <a:txBody>
                    <a:bodyPr/>
                    <a:lstStyle/>
                    <a:p>
                      <a:pPr>
                        <a:buNone/>
                      </a:pPr>
                      <a:r>
                        <a:rPr lang="en-IN" sz="2200">
                          <a:latin typeface="Times New Roman" panose="02020603050405020304" pitchFamily="18" charset="0"/>
                          <a:cs typeface="Times New Roman" panose="02020603050405020304" pitchFamily="18" charset="0"/>
                        </a:rPr>
                        <a:t>Heuristic methods</a:t>
                      </a:r>
                    </a:p>
                  </a:txBody>
                  <a:tcPr anchor="ctr"/>
                </a:tc>
                <a:tc>
                  <a:txBody>
                    <a:bodyPr/>
                    <a:lstStyle/>
                    <a:p>
                      <a:pPr>
                        <a:buNone/>
                      </a:pPr>
                      <a:r>
                        <a:rPr lang="en-IN" sz="2200">
                          <a:latin typeface="Times New Roman" panose="02020603050405020304" pitchFamily="18" charset="0"/>
                          <a:cs typeface="Times New Roman" panose="02020603050405020304" pitchFamily="18" charset="0"/>
                        </a:rPr>
                        <a:t>Efficient static routing</a:t>
                      </a:r>
                    </a:p>
                  </a:txBody>
                  <a:tcPr anchor="ctr"/>
                </a:tc>
                <a:tc>
                  <a:txBody>
                    <a:bodyPr/>
                    <a:lstStyle/>
                    <a:p>
                      <a:pPr>
                        <a:buNone/>
                      </a:pPr>
                      <a:r>
                        <a:rPr lang="en-IN" sz="2200" dirty="0">
                          <a:latin typeface="Times New Roman" panose="02020603050405020304" pitchFamily="18" charset="0"/>
                          <a:cs typeface="Times New Roman" panose="02020603050405020304" pitchFamily="18" charset="0"/>
                        </a:rPr>
                        <a:t>No backup routes</a:t>
                      </a:r>
                    </a:p>
                  </a:txBody>
                  <a:tcPr anchor="ctr"/>
                </a:tc>
                <a:extLst>
                  <a:ext uri="{0D108BD9-81ED-4DB2-BD59-A6C34878D82A}">
                    <a16:rowId xmlns:a16="http://schemas.microsoft.com/office/drawing/2014/main" val="2069019327"/>
                  </a:ext>
                </a:extLst>
              </a:tr>
            </a:tbl>
          </a:graphicData>
        </a:graphic>
      </p:graphicFrame>
      <p:sp>
        <p:nvSpPr>
          <p:cNvPr id="5" name="TextBox 4">
            <a:extLst>
              <a:ext uri="{FF2B5EF4-FFF2-40B4-BE49-F238E27FC236}">
                <a16:creationId xmlns:a16="http://schemas.microsoft.com/office/drawing/2014/main" id="{CA7A6663-777F-54BC-984A-4FB7781B8475}"/>
              </a:ext>
            </a:extLst>
          </p:cNvPr>
          <p:cNvSpPr txBox="1"/>
          <p:nvPr/>
        </p:nvSpPr>
        <p:spPr>
          <a:xfrm>
            <a:off x="581227" y="6606769"/>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540419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16D6D1-DE82-A394-52D3-E56DF281208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53A28B-7AAF-EE08-C11D-7FC5A93E9894}"/>
              </a:ext>
            </a:extLst>
          </p:cNvPr>
          <p:cNvSpPr>
            <a:spLocks noGrp="1"/>
          </p:cNvSpPr>
          <p:nvPr>
            <p:ph idx="1"/>
          </p:nvPr>
        </p:nvSpPr>
        <p:spPr>
          <a:xfrm>
            <a:off x="165376" y="947651"/>
            <a:ext cx="11779135" cy="5394960"/>
          </a:xfrm>
        </p:spPr>
        <p:txBody>
          <a:bodyPr>
            <a:noAutofit/>
          </a:bodyPr>
          <a:lstStyle/>
          <a:p>
            <a:pPr marL="457200" indent="-457200"/>
            <a:r>
              <a:rPr lang="en-US" sz="2400" dirty="0"/>
              <a:t>The proposed system follows a </a:t>
            </a:r>
            <a:r>
              <a:rPr lang="en-US" sz="2400" b="1" dirty="0"/>
              <a:t>hybrid quantum–classical optimization framework</a:t>
            </a:r>
            <a:r>
              <a:rPr lang="en-US" sz="2400" dirty="0"/>
              <a:t> to improve delivery routing performance.</a:t>
            </a:r>
          </a:p>
          <a:p>
            <a:pPr marL="457200" indent="-457200"/>
            <a:r>
              <a:rPr lang="en-IN" sz="2400" b="1" dirty="0"/>
              <a:t>Scalable Clustering &amp; Preprocessing: </a:t>
            </a:r>
            <a:r>
              <a:rPr lang="en-US" altLang="en-US" sz="2400" dirty="0"/>
              <a:t>Large delivery networks are divided into small quantum-manageable clusters, and infeasible routes are filtered using classical methods.</a:t>
            </a:r>
          </a:p>
          <a:p>
            <a:pPr marL="457200" indent="-457200"/>
            <a:r>
              <a:rPr lang="en-US" altLang="en-US" sz="2400" b="1" dirty="0"/>
              <a:t>Multi-Route Generation: </a:t>
            </a:r>
            <a:r>
              <a:rPr lang="en-US" altLang="en-US" sz="2400" dirty="0"/>
              <a:t>Multiple primary and alternate routes are generated using multi-start heuristics to ensure backup paths during disruptions.</a:t>
            </a:r>
          </a:p>
          <a:p>
            <a:pPr marL="457200" indent="-457200"/>
            <a:r>
              <a:rPr lang="en-US" altLang="en-US" sz="2400" b="1" dirty="0"/>
              <a:t>Quantum Optimization with Auto-Tuning: </a:t>
            </a:r>
            <a:r>
              <a:rPr lang="en-US" altLang="en-US" sz="2400" dirty="0"/>
              <a:t>Routes are formulated as QUBO models and optimized using multi-start QAOA with automatic penalty tuning for stable performance.</a:t>
            </a:r>
          </a:p>
          <a:p>
            <a:pPr marL="457200" indent="-457200"/>
            <a:r>
              <a:rPr lang="en-US" altLang="en-US" sz="2400" b="1" dirty="0"/>
              <a:t>Hybrid Execution &amp; Dynamic Switching: </a:t>
            </a:r>
            <a:r>
              <a:rPr lang="en-US" altLang="en-US" sz="2400" dirty="0"/>
              <a:t>Classical and quantum components are coordinated to execute routes and instantly switch to alternate paths during traffic or obstacles.</a:t>
            </a:r>
          </a:p>
          <a:p>
            <a:endParaRPr lang="en-US" altLang="en-US" sz="2400" dirty="0">
              <a:latin typeface="Arial" panose="020B0604020202020204" pitchFamily="34" charset="0"/>
            </a:endParaRPr>
          </a:p>
        </p:txBody>
      </p:sp>
      <p:sp>
        <p:nvSpPr>
          <p:cNvPr id="6" name="TextBox 5">
            <a:extLst>
              <a:ext uri="{FF2B5EF4-FFF2-40B4-BE49-F238E27FC236}">
                <a16:creationId xmlns:a16="http://schemas.microsoft.com/office/drawing/2014/main" id="{66DC77DF-D31C-D143-B46E-3908DBAC3031}"/>
              </a:ext>
            </a:extLst>
          </p:cNvPr>
          <p:cNvSpPr txBox="1"/>
          <p:nvPr/>
        </p:nvSpPr>
        <p:spPr>
          <a:xfrm>
            <a:off x="445042" y="6580111"/>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5" name="Title 4">
            <a:extLst>
              <a:ext uri="{FF2B5EF4-FFF2-40B4-BE49-F238E27FC236}">
                <a16:creationId xmlns:a16="http://schemas.microsoft.com/office/drawing/2014/main" id="{11118773-A5B3-B370-43B2-C13DA6EB0CA3}"/>
              </a:ext>
            </a:extLst>
          </p:cNvPr>
          <p:cNvSpPr>
            <a:spLocks noGrp="1"/>
          </p:cNvSpPr>
          <p:nvPr>
            <p:ph type="title"/>
          </p:nvPr>
        </p:nvSpPr>
        <p:spPr/>
        <p:txBody>
          <a:bodyPr/>
          <a:lstStyle/>
          <a:p>
            <a:r>
              <a:rPr lang="en-US" dirty="0"/>
              <a:t>Proposed Work</a:t>
            </a:r>
            <a:endParaRPr lang="en-IN" dirty="0"/>
          </a:p>
        </p:txBody>
      </p:sp>
    </p:spTree>
    <p:extLst>
      <p:ext uri="{BB962C8B-B14F-4D97-AF65-F5344CB8AC3E}">
        <p14:creationId xmlns:p14="http://schemas.microsoft.com/office/powerpoint/2010/main" val="3600565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34913"/>
            <a:ext cx="12192000" cy="714892"/>
          </a:xfrm>
        </p:spPr>
        <p:txBody>
          <a:bodyPr/>
          <a:lstStyle/>
          <a:p>
            <a:r>
              <a:rPr lang="en-US"/>
              <a:t>Introduction</a:t>
            </a:r>
          </a:p>
        </p:txBody>
      </p:sp>
      <p:sp>
        <p:nvSpPr>
          <p:cNvPr id="3" name="Content Placeholder 2"/>
          <p:cNvSpPr>
            <a:spLocks noGrp="1"/>
          </p:cNvSpPr>
          <p:nvPr>
            <p:ph idx="1"/>
          </p:nvPr>
        </p:nvSpPr>
        <p:spPr/>
        <p:txBody>
          <a:bodyPr>
            <a:normAutofit/>
          </a:bodyPr>
          <a:lstStyle/>
          <a:p>
            <a:pPr marL="457200" indent="-457200"/>
            <a:r>
              <a:rPr lang="en-US" altLang="en-US" sz="2400" dirty="0"/>
              <a:t>Delivery route optimization is an important problem in logistics and transportation systems</a:t>
            </a:r>
          </a:p>
          <a:p>
            <a:pPr marL="457200" indent="-457200"/>
            <a:r>
              <a:rPr lang="en-US" altLang="en-US" sz="2400" dirty="0"/>
              <a:t>It focuses on finding efficient routes from a warehouse to multiple customers</a:t>
            </a:r>
          </a:p>
          <a:p>
            <a:pPr marL="457200" indent="-457200"/>
            <a:r>
              <a:rPr lang="en-US" altLang="en-US" sz="2400" dirty="0"/>
              <a:t>Efficient routing helps reduce travel time, fuel consumption, and delivery cost</a:t>
            </a:r>
          </a:p>
          <a:p>
            <a:pPr marL="457200" indent="-457200"/>
            <a:r>
              <a:rPr lang="en-US" altLang="en-US" sz="2400" dirty="0"/>
              <a:t>Traditional routing systems usually generate only one optimal route</a:t>
            </a:r>
          </a:p>
          <a:p>
            <a:pPr marL="457200" indent="-457200"/>
            <a:r>
              <a:rPr lang="en-US" altLang="en-US" sz="2400" dirty="0"/>
              <a:t>Real-world conditions like traffic congestion and roadblocks can disrupt this route</a:t>
            </a:r>
          </a:p>
          <a:p>
            <a:pPr marL="457200" indent="-457200"/>
            <a:r>
              <a:rPr lang="en-US" altLang="en-US" sz="2400" dirty="0"/>
              <a:t>Quantum computing provides new techniques to explore multiple route possibilities</a:t>
            </a:r>
          </a:p>
          <a:p>
            <a:pPr marL="457200" indent="-457200"/>
            <a:r>
              <a:rPr lang="en-US" altLang="en-US" sz="2400" dirty="0"/>
              <a:t>This project studies how quantum algorithms can assist delivery route optimization</a:t>
            </a:r>
          </a:p>
          <a:p>
            <a:pPr marL="457200" indent="-457200">
              <a:buNone/>
            </a:pPr>
            <a:r>
              <a:rPr lang="en-US" sz="2400" b="1" dirty="0"/>
              <a:t>Example:</a:t>
            </a:r>
            <a:endParaRPr lang="en-US" sz="2400" dirty="0"/>
          </a:p>
          <a:p>
            <a:pPr marL="457200" indent="-457200"/>
            <a:r>
              <a:rPr lang="en-US" sz="2400" dirty="0"/>
              <a:t>A delivery vehicle travels from a warehouse to 5 customers</a:t>
            </a:r>
          </a:p>
          <a:p>
            <a:pPr marL="457200" indent="-457200"/>
            <a:r>
              <a:rPr lang="en-US" sz="2400" dirty="0"/>
              <a:t>If one road is blocked, a single-route system fails</a:t>
            </a:r>
          </a:p>
          <a:p>
            <a:pPr marL="457200" indent="-457200"/>
            <a:r>
              <a:rPr lang="en-US" sz="2400" dirty="0"/>
              <a:t>A multi-route system can quickly switch to an alternate path</a:t>
            </a:r>
          </a:p>
          <a:p>
            <a:pPr marL="457200" indent="-457200">
              <a:buNone/>
            </a:pPr>
            <a:endParaRPr lang="en-US" altLang="en-US" sz="2400" dirty="0"/>
          </a:p>
          <a:p>
            <a:pPr marL="457200" indent="-457200"/>
            <a:endParaRPr lang="en-IN" sz="2400" dirty="0"/>
          </a:p>
          <a:p>
            <a:pPr marL="457200" indent="-457200">
              <a:buNone/>
            </a:pPr>
            <a:endParaRPr lang="en-US" sz="2400" dirty="0"/>
          </a:p>
          <a:p>
            <a:pPr marL="457200" indent="-457200"/>
            <a:endParaRPr lang="en-US" sz="2400" dirty="0"/>
          </a:p>
        </p:txBody>
      </p:sp>
      <p:sp>
        <p:nvSpPr>
          <p:cNvPr id="11" name="TextBox 10">
            <a:extLst>
              <a:ext uri="{FF2B5EF4-FFF2-40B4-BE49-F238E27FC236}">
                <a16:creationId xmlns:a16="http://schemas.microsoft.com/office/drawing/2014/main" id="{AB558080-1891-FB88-C29A-81B0882966FC}"/>
              </a:ext>
            </a:extLst>
          </p:cNvPr>
          <p:cNvSpPr txBox="1"/>
          <p:nvPr/>
        </p:nvSpPr>
        <p:spPr>
          <a:xfrm>
            <a:off x="474224" y="6589838"/>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r>
              <a:rPr lang="en-US" dirty="0"/>
              <a:t>Existing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p:txBody>
          <a:bodyPr>
            <a:normAutofit/>
          </a:bodyPr>
          <a:lstStyle/>
          <a:p>
            <a:pPr marL="457200" indent="-457200"/>
            <a:r>
              <a:rPr lang="en-US" sz="2400" dirty="0"/>
              <a:t>Most delivery systems use </a:t>
            </a:r>
            <a:r>
              <a:rPr lang="en-US" sz="2400" b="1" dirty="0"/>
              <a:t>classical optimization algorithms</a:t>
            </a:r>
          </a:p>
          <a:p>
            <a:pPr marL="457200" indent="-457200"/>
            <a:r>
              <a:rPr lang="en-US" sz="2400" dirty="0"/>
              <a:t>Routes are selected based on </a:t>
            </a:r>
            <a:r>
              <a:rPr lang="en-US" sz="2400" b="1" dirty="0"/>
              <a:t>shortest distance or fastest time</a:t>
            </a:r>
            <a:endParaRPr lang="en-US" sz="2400" dirty="0"/>
          </a:p>
          <a:p>
            <a:pPr marL="457200" indent="-457200"/>
            <a:r>
              <a:rPr lang="en-US" sz="2400" dirty="0"/>
              <a:t>Only </a:t>
            </a:r>
            <a:r>
              <a:rPr lang="en-US" sz="2400" b="1" dirty="0"/>
              <a:t>one primary route</a:t>
            </a:r>
            <a:r>
              <a:rPr lang="en-US" sz="2400" dirty="0"/>
              <a:t> is generated for delivery</a:t>
            </a:r>
          </a:p>
          <a:p>
            <a:pPr marL="457200" indent="-457200"/>
            <a:r>
              <a:rPr lang="en-US" sz="2400" dirty="0"/>
              <a:t>Real-world apps (</a:t>
            </a:r>
            <a:r>
              <a:rPr lang="en-US" sz="2400" b="1" dirty="0"/>
              <a:t>Google Maps, Amazon, Swiggy, Zomato, Uber Eats</a:t>
            </a:r>
            <a:r>
              <a:rPr lang="en-US" sz="2400" dirty="0"/>
              <a:t>):</a:t>
            </a:r>
          </a:p>
          <a:p>
            <a:pPr marL="914400" lvl="2" indent="-457200" algn="l"/>
            <a:r>
              <a:rPr lang="en-US" sz="2400" dirty="0"/>
              <a:t>Provide a single optimized route</a:t>
            </a:r>
          </a:p>
          <a:p>
            <a:pPr marL="914400" lvl="2" indent="-457200" algn="l"/>
            <a:r>
              <a:rPr lang="en-US" sz="2400" dirty="0"/>
              <a:t>Re-route only </a:t>
            </a:r>
            <a:r>
              <a:rPr lang="en-US" sz="2400" b="1" dirty="0"/>
              <a:t>after traffic or delays occur</a:t>
            </a:r>
            <a:endParaRPr lang="en-US" sz="2400" dirty="0"/>
          </a:p>
          <a:p>
            <a:pPr marL="457200" indent="-457200"/>
            <a:r>
              <a:rPr lang="en-US" sz="2400" dirty="0"/>
              <a:t>Quantum research using </a:t>
            </a:r>
            <a:r>
              <a:rPr lang="en-US" sz="2400" b="1" dirty="0"/>
              <a:t>D-Wave</a:t>
            </a:r>
            <a:r>
              <a:rPr lang="en-US" sz="2400" dirty="0"/>
              <a:t> and </a:t>
            </a:r>
            <a:r>
              <a:rPr lang="en-US" sz="2400" b="1" dirty="0"/>
              <a:t>IBM Quantum (QAOA)</a:t>
            </a:r>
            <a:r>
              <a:rPr lang="en-US" sz="2400" dirty="0"/>
              <a:t>:</a:t>
            </a:r>
          </a:p>
          <a:p>
            <a:pPr marL="914400" lvl="2" indent="-457200"/>
            <a:r>
              <a:rPr lang="en-US" sz="2400" dirty="0"/>
              <a:t>Works only for </a:t>
            </a:r>
            <a:r>
              <a:rPr lang="en-US" sz="2400" b="1" dirty="0"/>
              <a:t>small delivery networks</a:t>
            </a:r>
            <a:endParaRPr lang="en-US" sz="2400" dirty="0"/>
          </a:p>
          <a:p>
            <a:pPr marL="914400" lvl="2" indent="-457200"/>
            <a:r>
              <a:rPr lang="en-US" sz="2400" dirty="0"/>
              <a:t>Produces </a:t>
            </a:r>
            <a:r>
              <a:rPr lang="en-US" sz="2400" b="1" dirty="0"/>
              <a:t>unstable or incomplete routes</a:t>
            </a:r>
            <a:endParaRPr lang="en-US" sz="2400" dirty="0"/>
          </a:p>
          <a:p>
            <a:pPr marL="914400" lvl="2" indent="-457200"/>
            <a:r>
              <a:rPr lang="en-US" sz="2400" dirty="0"/>
              <a:t>Needs </a:t>
            </a:r>
            <a:r>
              <a:rPr lang="en-US" sz="2400" b="1" dirty="0"/>
              <a:t>classical repair and validation</a:t>
            </a:r>
            <a:endParaRPr lang="en-US" sz="2400" dirty="0"/>
          </a:p>
          <a:p>
            <a:pPr marL="457200" indent="-457200"/>
            <a:r>
              <a:rPr lang="en-US" sz="2400" b="1" dirty="0"/>
              <a:t>No system provides pre-computed alternate routes</a:t>
            </a:r>
            <a:endParaRPr lang="en-US" sz="2400" dirty="0"/>
          </a:p>
          <a:p>
            <a:pPr marL="457200" indent="-457200"/>
            <a:r>
              <a:rPr lang="en-US" sz="2400" dirty="0"/>
              <a:t>Current solutions are </a:t>
            </a:r>
            <a:r>
              <a:rPr lang="en-US" sz="2400" b="1" dirty="0"/>
              <a:t>reactive, not proactive</a:t>
            </a:r>
            <a:endParaRPr lang="en-IN" sz="2400" dirty="0"/>
          </a:p>
          <a:p>
            <a:pPr marL="457200" indent="-457200"/>
            <a:endParaRPr lang="en-IN" sz="2400" dirty="0"/>
          </a:p>
        </p:txBody>
      </p:sp>
      <p:sp>
        <p:nvSpPr>
          <p:cNvPr id="9" name="TextBox 8">
            <a:extLst>
              <a:ext uri="{FF2B5EF4-FFF2-40B4-BE49-F238E27FC236}">
                <a16:creationId xmlns:a16="http://schemas.microsoft.com/office/drawing/2014/main" id="{1B22B4DE-B4E6-0EA8-CBB2-C239912A0E3A}"/>
              </a:ext>
            </a:extLst>
          </p:cNvPr>
          <p:cNvSpPr txBox="1"/>
          <p:nvPr/>
        </p:nvSpPr>
        <p:spPr>
          <a:xfrm>
            <a:off x="522861" y="6590220"/>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20325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p:txBody>
          <a:bodyPr/>
          <a:lstStyle/>
          <a:p>
            <a:r>
              <a:rPr lang="en-US" dirty="0"/>
              <a:t>Proposed System</a:t>
            </a:r>
            <a:endParaRPr lang="en-IN" dirty="0"/>
          </a:p>
        </p:txBody>
      </p:sp>
      <p:sp>
        <p:nvSpPr>
          <p:cNvPr id="3" name="Content Placeholder 2">
            <a:extLst>
              <a:ext uri="{FF2B5EF4-FFF2-40B4-BE49-F238E27FC236}">
                <a16:creationId xmlns:a16="http://schemas.microsoft.com/office/drawing/2014/main" id="{AA11EE8A-B72C-0ED9-27DC-BB0A67952F50}"/>
              </a:ext>
            </a:extLst>
          </p:cNvPr>
          <p:cNvSpPr>
            <a:spLocks noGrp="1"/>
          </p:cNvSpPr>
          <p:nvPr>
            <p:ph idx="1"/>
          </p:nvPr>
        </p:nvSpPr>
        <p:spPr>
          <a:xfrm>
            <a:off x="206430" y="1080654"/>
            <a:ext cx="11779135" cy="5394960"/>
          </a:xfrm>
        </p:spPr>
        <p:txBody>
          <a:bodyPr>
            <a:normAutofit/>
          </a:bodyPr>
          <a:lstStyle/>
          <a:p>
            <a:pPr marL="0" indent="0">
              <a:buNone/>
            </a:pPr>
            <a:r>
              <a:rPr lang="en-US" sz="2400" dirty="0"/>
              <a:t>A hybrid quantum–classical routing system that generates optimal and alternate routes for fast switching during traffic or disruptions.</a:t>
            </a:r>
            <a:endParaRPr lang="en-IN" sz="2400" dirty="0"/>
          </a:p>
        </p:txBody>
      </p:sp>
      <p:sp>
        <p:nvSpPr>
          <p:cNvPr id="22" name="TextBox 21">
            <a:extLst>
              <a:ext uri="{FF2B5EF4-FFF2-40B4-BE49-F238E27FC236}">
                <a16:creationId xmlns:a16="http://schemas.microsoft.com/office/drawing/2014/main" id="{95FC819F-EE75-4D3D-026F-0763661B2F94}"/>
              </a:ext>
            </a:extLst>
          </p:cNvPr>
          <p:cNvSpPr txBox="1"/>
          <p:nvPr/>
        </p:nvSpPr>
        <p:spPr>
          <a:xfrm>
            <a:off x="552044" y="6589838"/>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D94E379-4FBF-B45A-4A0E-3ADCE6B059F8}"/>
              </a:ext>
            </a:extLst>
          </p:cNvPr>
          <p:cNvGraphicFramePr>
            <a:graphicFrameLocks noGrp="1"/>
          </p:cNvGraphicFramePr>
          <p:nvPr>
            <p:extLst>
              <p:ext uri="{D42A27DB-BD31-4B8C-83A1-F6EECF244321}">
                <p14:modId xmlns:p14="http://schemas.microsoft.com/office/powerpoint/2010/main" val="507991951"/>
              </p:ext>
            </p:extLst>
          </p:nvPr>
        </p:nvGraphicFramePr>
        <p:xfrm>
          <a:off x="206430" y="2019697"/>
          <a:ext cx="11082255" cy="4605544"/>
        </p:xfrm>
        <a:graphic>
          <a:graphicData uri="http://schemas.openxmlformats.org/drawingml/2006/table">
            <a:tbl>
              <a:tblPr>
                <a:tableStyleId>{2D5ABB26-0587-4C30-8999-92F81FD0307C}</a:tableStyleId>
              </a:tblPr>
              <a:tblGrid>
                <a:gridCol w="3694085">
                  <a:extLst>
                    <a:ext uri="{9D8B030D-6E8A-4147-A177-3AD203B41FA5}">
                      <a16:colId xmlns:a16="http://schemas.microsoft.com/office/drawing/2014/main" val="1847697662"/>
                    </a:ext>
                  </a:extLst>
                </a:gridCol>
                <a:gridCol w="3694085">
                  <a:extLst>
                    <a:ext uri="{9D8B030D-6E8A-4147-A177-3AD203B41FA5}">
                      <a16:colId xmlns:a16="http://schemas.microsoft.com/office/drawing/2014/main" val="740460523"/>
                    </a:ext>
                  </a:extLst>
                </a:gridCol>
                <a:gridCol w="3694085">
                  <a:extLst>
                    <a:ext uri="{9D8B030D-6E8A-4147-A177-3AD203B41FA5}">
                      <a16:colId xmlns:a16="http://schemas.microsoft.com/office/drawing/2014/main" val="3328558025"/>
                    </a:ext>
                  </a:extLst>
                </a:gridCol>
              </a:tblGrid>
              <a:tr h="377776">
                <a:tc>
                  <a:txBody>
                    <a:bodyPr/>
                    <a:lstStyle/>
                    <a:p>
                      <a:pPr>
                        <a:buNone/>
                      </a:pPr>
                      <a:r>
                        <a:rPr lang="en-IN" sz="2200" b="1" dirty="0">
                          <a:latin typeface="Times New Roman" panose="02020603050405020304" pitchFamily="18" charset="0"/>
                          <a:cs typeface="Times New Roman" panose="02020603050405020304" pitchFamily="18" charset="0"/>
                        </a:rPr>
                        <a:t>Feature</a:t>
                      </a:r>
                      <a:endParaRPr lang="en-IN" sz="2200" dirty="0">
                        <a:latin typeface="Times New Roman" panose="02020603050405020304" pitchFamily="18" charset="0"/>
                        <a:cs typeface="Times New Roman" panose="02020603050405020304" pitchFamily="18" charset="0"/>
                      </a:endParaRPr>
                    </a:p>
                  </a:txBody>
                  <a:tcPr marL="67990" marR="67990" marT="33995" marB="33995" anchor="ctr"/>
                </a:tc>
                <a:tc>
                  <a:txBody>
                    <a:bodyPr/>
                    <a:lstStyle/>
                    <a:p>
                      <a:pPr>
                        <a:buNone/>
                      </a:pPr>
                      <a:r>
                        <a:rPr lang="en-IN" sz="2200" b="1">
                          <a:latin typeface="Times New Roman" panose="02020603050405020304" pitchFamily="18" charset="0"/>
                          <a:cs typeface="Times New Roman" panose="02020603050405020304" pitchFamily="18" charset="0"/>
                        </a:rPr>
                        <a:t>Existing Solution</a:t>
                      </a:r>
                      <a:endParaRPr lang="en-IN" sz="2200">
                        <a:latin typeface="Times New Roman" panose="02020603050405020304" pitchFamily="18" charset="0"/>
                        <a:cs typeface="Times New Roman" panose="02020603050405020304" pitchFamily="18" charset="0"/>
                      </a:endParaRPr>
                    </a:p>
                  </a:txBody>
                  <a:tcPr marL="67990" marR="67990" marT="33995" marB="33995" anchor="ctr"/>
                </a:tc>
                <a:tc>
                  <a:txBody>
                    <a:bodyPr/>
                    <a:lstStyle/>
                    <a:p>
                      <a:pPr>
                        <a:buNone/>
                      </a:pPr>
                      <a:r>
                        <a:rPr lang="en-IN" sz="2200" b="1">
                          <a:latin typeface="Times New Roman" panose="02020603050405020304" pitchFamily="18" charset="0"/>
                          <a:cs typeface="Times New Roman" panose="02020603050405020304" pitchFamily="18" charset="0"/>
                        </a:rPr>
                        <a:t>Proposed Enhanced Solution</a:t>
                      </a:r>
                      <a:endParaRPr lang="en-IN" sz="2200">
                        <a:latin typeface="Times New Roman" panose="02020603050405020304" pitchFamily="18" charset="0"/>
                        <a:cs typeface="Times New Roman" panose="02020603050405020304" pitchFamily="18" charset="0"/>
                      </a:endParaRPr>
                    </a:p>
                  </a:txBody>
                  <a:tcPr marL="67990" marR="67990" marT="33995" marB="33995" anchor="ctr"/>
                </a:tc>
                <a:extLst>
                  <a:ext uri="{0D108BD9-81ED-4DB2-BD59-A6C34878D82A}">
                    <a16:rowId xmlns:a16="http://schemas.microsoft.com/office/drawing/2014/main" val="4068264820"/>
                  </a:ext>
                </a:extLst>
              </a:tr>
              <a:tr h="691859">
                <a:tc>
                  <a:txBody>
                    <a:bodyPr/>
                    <a:lstStyle/>
                    <a:p>
                      <a:pPr>
                        <a:buNone/>
                      </a:pPr>
                      <a:r>
                        <a:rPr lang="en-IN" sz="2200" b="1" dirty="0">
                          <a:latin typeface="Times New Roman" panose="02020603050405020304" pitchFamily="18" charset="0"/>
                          <a:cs typeface="Times New Roman" panose="02020603050405020304" pitchFamily="18" charset="0"/>
                        </a:rPr>
                        <a:t>Routing Approach</a:t>
                      </a:r>
                      <a:endParaRPr lang="en-IN" sz="2200" dirty="0">
                        <a:latin typeface="Times New Roman" panose="02020603050405020304" pitchFamily="18" charset="0"/>
                        <a:cs typeface="Times New Roman" panose="02020603050405020304" pitchFamily="18" charset="0"/>
                      </a:endParaRPr>
                    </a:p>
                  </a:txBody>
                  <a:tcPr marL="67990" marR="67990" marT="33995" marB="33995" anchor="ctr"/>
                </a:tc>
                <a:tc>
                  <a:txBody>
                    <a:bodyPr/>
                    <a:lstStyle/>
                    <a:p>
                      <a:pPr>
                        <a:buNone/>
                      </a:pPr>
                      <a:r>
                        <a:rPr lang="en-IN" sz="2200" dirty="0">
                          <a:latin typeface="Times New Roman" panose="02020603050405020304" pitchFamily="18" charset="0"/>
                          <a:cs typeface="Times New Roman" panose="02020603050405020304" pitchFamily="18" charset="0"/>
                        </a:rPr>
                        <a:t>Classical shortest-path algorithms</a:t>
                      </a:r>
                    </a:p>
                  </a:txBody>
                  <a:tcPr marL="67990" marR="67990" marT="33995" marB="33995" anchor="ctr"/>
                </a:tc>
                <a:tc>
                  <a:txBody>
                    <a:bodyPr/>
                    <a:lstStyle/>
                    <a:p>
                      <a:pPr>
                        <a:buNone/>
                      </a:pPr>
                      <a:r>
                        <a:rPr lang="en-IN" sz="2200">
                          <a:latin typeface="Times New Roman" panose="02020603050405020304" pitchFamily="18" charset="0"/>
                          <a:cs typeface="Times New Roman" panose="02020603050405020304" pitchFamily="18" charset="0"/>
                        </a:rPr>
                        <a:t>Hybrid quantum–classical optimization</a:t>
                      </a:r>
                    </a:p>
                  </a:txBody>
                  <a:tcPr marL="67990" marR="67990" marT="33995" marB="33995" anchor="ctr"/>
                </a:tc>
                <a:extLst>
                  <a:ext uri="{0D108BD9-81ED-4DB2-BD59-A6C34878D82A}">
                    <a16:rowId xmlns:a16="http://schemas.microsoft.com/office/drawing/2014/main" val="2956365621"/>
                  </a:ext>
                </a:extLst>
              </a:tr>
              <a:tr h="691859">
                <a:tc>
                  <a:txBody>
                    <a:bodyPr/>
                    <a:lstStyle/>
                    <a:p>
                      <a:pPr>
                        <a:buNone/>
                      </a:pPr>
                      <a:r>
                        <a:rPr lang="en-IN" sz="2200" b="1" dirty="0">
                          <a:latin typeface="Times New Roman" panose="02020603050405020304" pitchFamily="18" charset="0"/>
                          <a:cs typeface="Times New Roman" panose="02020603050405020304" pitchFamily="18" charset="0"/>
                        </a:rPr>
                        <a:t>Route Generation</a:t>
                      </a:r>
                      <a:endParaRPr lang="en-IN" sz="2200" dirty="0">
                        <a:latin typeface="Times New Roman" panose="02020603050405020304" pitchFamily="18" charset="0"/>
                        <a:cs typeface="Times New Roman" panose="02020603050405020304" pitchFamily="18" charset="0"/>
                      </a:endParaRPr>
                    </a:p>
                  </a:txBody>
                  <a:tcPr marL="67990" marR="67990" marT="33995" marB="33995" anchor="ctr"/>
                </a:tc>
                <a:tc>
                  <a:txBody>
                    <a:bodyPr/>
                    <a:lstStyle/>
                    <a:p>
                      <a:pPr>
                        <a:buNone/>
                      </a:pPr>
                      <a:r>
                        <a:rPr lang="en-IN" sz="2200" dirty="0">
                          <a:latin typeface="Times New Roman" panose="02020603050405020304" pitchFamily="18" charset="0"/>
                          <a:cs typeface="Times New Roman" panose="02020603050405020304" pitchFamily="18" charset="0"/>
                        </a:rPr>
                        <a:t>Single optimized route</a:t>
                      </a:r>
                    </a:p>
                  </a:txBody>
                  <a:tcPr marL="67990" marR="67990" marT="33995" marB="33995" anchor="ctr"/>
                </a:tc>
                <a:tc>
                  <a:txBody>
                    <a:bodyPr/>
                    <a:lstStyle/>
                    <a:p>
                      <a:pPr>
                        <a:buNone/>
                      </a:pPr>
                      <a:r>
                        <a:rPr lang="en-US" sz="2200">
                          <a:latin typeface="Times New Roman" panose="02020603050405020304" pitchFamily="18" charset="0"/>
                          <a:cs typeface="Times New Roman" panose="02020603050405020304" pitchFamily="18" charset="0"/>
                        </a:rPr>
                        <a:t>Multiple optimal and alternate routes</a:t>
                      </a:r>
                    </a:p>
                  </a:txBody>
                  <a:tcPr marL="67990" marR="67990" marT="33995" marB="33995" anchor="ctr"/>
                </a:tc>
                <a:extLst>
                  <a:ext uri="{0D108BD9-81ED-4DB2-BD59-A6C34878D82A}">
                    <a16:rowId xmlns:a16="http://schemas.microsoft.com/office/drawing/2014/main" val="4143605778"/>
                  </a:ext>
                </a:extLst>
              </a:tr>
              <a:tr h="748966">
                <a:tc>
                  <a:txBody>
                    <a:bodyPr/>
                    <a:lstStyle/>
                    <a:p>
                      <a:pPr>
                        <a:buNone/>
                      </a:pPr>
                      <a:r>
                        <a:rPr lang="en-IN" sz="2200" b="1" dirty="0">
                          <a:latin typeface="Times New Roman" panose="02020603050405020304" pitchFamily="18" charset="0"/>
                          <a:cs typeface="Times New Roman" panose="02020603050405020304" pitchFamily="18" charset="0"/>
                        </a:rPr>
                        <a:t>Scalability Handling</a:t>
                      </a:r>
                      <a:endParaRPr lang="en-IN" sz="2200" dirty="0">
                        <a:latin typeface="Times New Roman" panose="02020603050405020304" pitchFamily="18" charset="0"/>
                        <a:cs typeface="Times New Roman" panose="02020603050405020304" pitchFamily="18" charset="0"/>
                      </a:endParaRPr>
                    </a:p>
                  </a:txBody>
                  <a:tcPr marL="67990" marR="67990" marT="33995" marB="33995" anchor="ctr"/>
                </a:tc>
                <a:tc>
                  <a:txBody>
                    <a:bodyPr/>
                    <a:lstStyle/>
                    <a:p>
                      <a:pPr>
                        <a:buNone/>
                      </a:pPr>
                      <a:r>
                        <a:rPr lang="en-US" sz="2200">
                          <a:latin typeface="Times New Roman" panose="02020603050405020304" pitchFamily="18" charset="0"/>
                          <a:cs typeface="Times New Roman" panose="02020603050405020304" pitchFamily="18" charset="0"/>
                        </a:rPr>
                        <a:t>Limited for large delivery networks</a:t>
                      </a:r>
                    </a:p>
                  </a:txBody>
                  <a:tcPr marL="67990" marR="67990" marT="33995" marB="33995" anchor="ctr"/>
                </a:tc>
                <a:tc>
                  <a:txBody>
                    <a:bodyPr/>
                    <a:lstStyle/>
                    <a:p>
                      <a:pPr>
                        <a:buNone/>
                      </a:pPr>
                      <a:r>
                        <a:rPr lang="en-IN" sz="2400" dirty="0">
                          <a:latin typeface="Times New Roman" panose="02020603050405020304" pitchFamily="18" charset="0"/>
                          <a:cs typeface="Times New Roman" panose="02020603050405020304" pitchFamily="18" charset="0"/>
                        </a:rPr>
                        <a:t>Quantum-manageable customer clustering</a:t>
                      </a:r>
                      <a:endParaRPr lang="en-US" sz="2200" dirty="0">
                        <a:latin typeface="Times New Roman" panose="02020603050405020304" pitchFamily="18" charset="0"/>
                        <a:cs typeface="Times New Roman" panose="02020603050405020304" pitchFamily="18" charset="0"/>
                      </a:endParaRPr>
                    </a:p>
                  </a:txBody>
                  <a:tcPr marL="67990" marR="67990" marT="33995" marB="33995" anchor="ctr"/>
                </a:tc>
                <a:extLst>
                  <a:ext uri="{0D108BD9-81ED-4DB2-BD59-A6C34878D82A}">
                    <a16:rowId xmlns:a16="http://schemas.microsoft.com/office/drawing/2014/main" val="2702657708"/>
                  </a:ext>
                </a:extLst>
              </a:tr>
              <a:tr h="691859">
                <a:tc>
                  <a:txBody>
                    <a:bodyPr/>
                    <a:lstStyle/>
                    <a:p>
                      <a:pPr>
                        <a:buNone/>
                      </a:pPr>
                      <a:r>
                        <a:rPr lang="en-IN" sz="2200" b="1" dirty="0">
                          <a:latin typeface="Times New Roman" panose="02020603050405020304" pitchFamily="18" charset="0"/>
                          <a:cs typeface="Times New Roman" panose="02020603050405020304" pitchFamily="18" charset="0"/>
                        </a:rPr>
                        <a:t>Optimization Model</a:t>
                      </a:r>
                      <a:endParaRPr lang="en-IN" sz="2200" dirty="0">
                        <a:latin typeface="Times New Roman" panose="02020603050405020304" pitchFamily="18" charset="0"/>
                        <a:cs typeface="Times New Roman" panose="02020603050405020304" pitchFamily="18" charset="0"/>
                      </a:endParaRPr>
                    </a:p>
                  </a:txBody>
                  <a:tcPr marL="67990" marR="67990" marT="33995" marB="33995" anchor="ctr"/>
                </a:tc>
                <a:tc>
                  <a:txBody>
                    <a:bodyPr/>
                    <a:lstStyle/>
                    <a:p>
                      <a:pPr>
                        <a:buNone/>
                      </a:pPr>
                      <a:r>
                        <a:rPr lang="en-IN" sz="2200">
                          <a:latin typeface="Times New Roman" panose="02020603050405020304" pitchFamily="18" charset="0"/>
                          <a:cs typeface="Times New Roman" panose="02020603050405020304" pitchFamily="18" charset="0"/>
                        </a:rPr>
                        <a:t>Heuristic or deterministic methods</a:t>
                      </a:r>
                    </a:p>
                  </a:txBody>
                  <a:tcPr marL="67990" marR="67990" marT="33995" marB="33995" anchor="ctr"/>
                </a:tc>
                <a:tc>
                  <a:txBody>
                    <a:bodyPr/>
                    <a:lstStyle/>
                    <a:p>
                      <a:pPr>
                        <a:buNone/>
                      </a:pPr>
                      <a:r>
                        <a:rPr lang="en-IN" sz="2200">
                          <a:latin typeface="Times New Roman" panose="02020603050405020304" pitchFamily="18" charset="0"/>
                          <a:cs typeface="Times New Roman" panose="02020603050405020304" pitchFamily="18" charset="0"/>
                        </a:rPr>
                        <a:t>QUBO-based quantum optimization</a:t>
                      </a:r>
                    </a:p>
                  </a:txBody>
                  <a:tcPr marL="67990" marR="67990" marT="33995" marB="33995" anchor="ctr"/>
                </a:tc>
                <a:extLst>
                  <a:ext uri="{0D108BD9-81ED-4DB2-BD59-A6C34878D82A}">
                    <a16:rowId xmlns:a16="http://schemas.microsoft.com/office/drawing/2014/main" val="3256722970"/>
                  </a:ext>
                </a:extLst>
              </a:tr>
              <a:tr h="448564">
                <a:tc>
                  <a:txBody>
                    <a:bodyPr/>
                    <a:lstStyle/>
                    <a:p>
                      <a:pPr>
                        <a:buNone/>
                      </a:pPr>
                      <a:r>
                        <a:rPr lang="en-IN" sz="2200" b="1" dirty="0">
                          <a:latin typeface="Times New Roman" panose="02020603050405020304" pitchFamily="18" charset="0"/>
                          <a:cs typeface="Times New Roman" panose="02020603050405020304" pitchFamily="18" charset="0"/>
                        </a:rPr>
                        <a:t>Decision Engine</a:t>
                      </a:r>
                      <a:endParaRPr lang="en-IN" sz="2200" dirty="0">
                        <a:latin typeface="Times New Roman" panose="02020603050405020304" pitchFamily="18" charset="0"/>
                        <a:cs typeface="Times New Roman" panose="02020603050405020304" pitchFamily="18" charset="0"/>
                      </a:endParaRPr>
                    </a:p>
                  </a:txBody>
                  <a:tcPr marL="67990" marR="67990" marT="33995" marB="33995" anchor="ctr"/>
                </a:tc>
                <a:tc>
                  <a:txBody>
                    <a:bodyPr/>
                    <a:lstStyle/>
                    <a:p>
                      <a:pPr>
                        <a:buNone/>
                      </a:pPr>
                      <a:r>
                        <a:rPr lang="en-IN" sz="2200">
                          <a:latin typeface="Times New Roman" panose="02020603050405020304" pitchFamily="18" charset="0"/>
                          <a:cs typeface="Times New Roman" panose="02020603050405020304" pitchFamily="18" charset="0"/>
                        </a:rPr>
                        <a:t>Classical solvers only</a:t>
                      </a:r>
                    </a:p>
                  </a:txBody>
                  <a:tcPr marL="67990" marR="67990" marT="33995" marB="33995" anchor="ctr"/>
                </a:tc>
                <a:tc>
                  <a:txBody>
                    <a:bodyPr/>
                    <a:lstStyle/>
                    <a:p>
                      <a:pPr>
                        <a:buNone/>
                      </a:pPr>
                      <a:r>
                        <a:rPr lang="pt-BR" sz="2200" dirty="0">
                          <a:latin typeface="Times New Roman" panose="02020603050405020304" pitchFamily="18" charset="0"/>
                          <a:cs typeface="Times New Roman" panose="02020603050405020304" pitchFamily="18" charset="0"/>
                        </a:rPr>
                        <a:t>QAOA Algorithm</a:t>
                      </a:r>
                    </a:p>
                  </a:txBody>
                  <a:tcPr marL="67990" marR="67990" marT="33995" marB="33995" anchor="ctr"/>
                </a:tc>
                <a:extLst>
                  <a:ext uri="{0D108BD9-81ED-4DB2-BD59-A6C34878D82A}">
                    <a16:rowId xmlns:a16="http://schemas.microsoft.com/office/drawing/2014/main" val="2869702094"/>
                  </a:ext>
                </a:extLst>
              </a:tr>
              <a:tr h="691859">
                <a:tc>
                  <a:txBody>
                    <a:bodyPr/>
                    <a:lstStyle/>
                    <a:p>
                      <a:pPr>
                        <a:buNone/>
                      </a:pPr>
                      <a:r>
                        <a:rPr lang="en-IN" sz="2200" b="1" dirty="0">
                          <a:latin typeface="Times New Roman" panose="02020603050405020304" pitchFamily="18" charset="0"/>
                          <a:cs typeface="Times New Roman" panose="02020603050405020304" pitchFamily="18" charset="0"/>
                        </a:rPr>
                        <a:t>Traffic / Obstacle Handling</a:t>
                      </a:r>
                      <a:endParaRPr lang="en-IN" sz="2200" dirty="0">
                        <a:latin typeface="Times New Roman" panose="02020603050405020304" pitchFamily="18" charset="0"/>
                        <a:cs typeface="Times New Roman" panose="02020603050405020304" pitchFamily="18" charset="0"/>
                      </a:endParaRPr>
                    </a:p>
                  </a:txBody>
                  <a:tcPr marL="67990" marR="67990" marT="33995" marB="33995" anchor="ctr"/>
                </a:tc>
                <a:tc>
                  <a:txBody>
                    <a:bodyPr/>
                    <a:lstStyle/>
                    <a:p>
                      <a:pPr>
                        <a:buNone/>
                      </a:pPr>
                      <a:r>
                        <a:rPr lang="en-IN" sz="2200" dirty="0">
                          <a:latin typeface="Times New Roman" panose="02020603050405020304" pitchFamily="18" charset="0"/>
                          <a:cs typeface="Times New Roman" panose="02020603050405020304" pitchFamily="18" charset="0"/>
                        </a:rPr>
                        <a:t>Reactive rerouting after delay</a:t>
                      </a:r>
                    </a:p>
                  </a:txBody>
                  <a:tcPr marL="67990" marR="67990" marT="33995" marB="33995" anchor="ctr"/>
                </a:tc>
                <a:tc>
                  <a:txBody>
                    <a:bodyPr/>
                    <a:lstStyle/>
                    <a:p>
                      <a:pPr>
                        <a:buNone/>
                      </a:pPr>
                      <a:r>
                        <a:rPr lang="en-US" sz="2200" dirty="0">
                          <a:latin typeface="Times New Roman" panose="02020603050405020304" pitchFamily="18" charset="0"/>
                          <a:cs typeface="Times New Roman" panose="02020603050405020304" pitchFamily="18" charset="0"/>
                        </a:rPr>
                        <a:t>Proactive alternate routes available in advance</a:t>
                      </a:r>
                    </a:p>
                  </a:txBody>
                  <a:tcPr marL="67990" marR="67990" marT="33995" marB="33995" anchor="ctr"/>
                </a:tc>
                <a:extLst>
                  <a:ext uri="{0D108BD9-81ED-4DB2-BD59-A6C34878D82A}">
                    <a16:rowId xmlns:a16="http://schemas.microsoft.com/office/drawing/2014/main" val="1109680622"/>
                  </a:ext>
                </a:extLst>
              </a:tr>
            </a:tbl>
          </a:graphicData>
        </a:graphic>
      </p:graphicFrame>
    </p:spTree>
    <p:extLst>
      <p:ext uri="{BB962C8B-B14F-4D97-AF65-F5344CB8AC3E}">
        <p14:creationId xmlns:p14="http://schemas.microsoft.com/office/powerpoint/2010/main" val="1722225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033D2-EE23-1FCB-6E54-9CE6C0D5E165}"/>
              </a:ext>
            </a:extLst>
          </p:cNvPr>
          <p:cNvSpPr>
            <a:spLocks noGrp="1"/>
          </p:cNvSpPr>
          <p:nvPr>
            <p:ph type="title"/>
          </p:nvPr>
        </p:nvSpPr>
        <p:spPr>
          <a:xfrm>
            <a:off x="0" y="232759"/>
            <a:ext cx="12192000" cy="714892"/>
          </a:xfrm>
        </p:spPr>
        <p:txBody>
          <a:bodyPr/>
          <a:lstStyle/>
          <a:p>
            <a:r>
              <a:rPr lang="en-US" dirty="0"/>
              <a:t>Planning &amp; Design</a:t>
            </a:r>
            <a:endParaRPr lang="en-IN" dirty="0"/>
          </a:p>
        </p:txBody>
      </p:sp>
      <p:pic>
        <p:nvPicPr>
          <p:cNvPr id="6" name="Content Placeholder 5">
            <a:extLst>
              <a:ext uri="{FF2B5EF4-FFF2-40B4-BE49-F238E27FC236}">
                <a16:creationId xmlns:a16="http://schemas.microsoft.com/office/drawing/2014/main" id="{20DB1B9E-0DD3-366D-5C40-D534C57F7EF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4366" y="1004605"/>
            <a:ext cx="5831634" cy="5528278"/>
          </a:xfrm>
        </p:spPr>
      </p:pic>
      <p:sp>
        <p:nvSpPr>
          <p:cNvPr id="5" name="TextBox 4">
            <a:extLst>
              <a:ext uri="{FF2B5EF4-FFF2-40B4-BE49-F238E27FC236}">
                <a16:creationId xmlns:a16="http://schemas.microsoft.com/office/drawing/2014/main" id="{3FC0D2F0-E6A7-CD25-010C-67590100CE18}"/>
              </a:ext>
            </a:extLst>
          </p:cNvPr>
          <p:cNvSpPr txBox="1"/>
          <p:nvPr/>
        </p:nvSpPr>
        <p:spPr>
          <a:xfrm>
            <a:off x="561772" y="6589838"/>
            <a:ext cx="6162472"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pic>
        <p:nvPicPr>
          <p:cNvPr id="3" name="Content Placeholder 11">
            <a:extLst>
              <a:ext uri="{FF2B5EF4-FFF2-40B4-BE49-F238E27FC236}">
                <a16:creationId xmlns:a16="http://schemas.microsoft.com/office/drawing/2014/main" id="{FCAE46BB-5054-8F8D-640D-DABC69F6AD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6000" y="1033083"/>
            <a:ext cx="4621485" cy="5528278"/>
          </a:xfrm>
          <a:prstGeom prst="rect">
            <a:avLst/>
          </a:prstGeom>
        </p:spPr>
      </p:pic>
    </p:spTree>
    <p:extLst>
      <p:ext uri="{BB962C8B-B14F-4D97-AF65-F5344CB8AC3E}">
        <p14:creationId xmlns:p14="http://schemas.microsoft.com/office/powerpoint/2010/main" val="621041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Requirements</a:t>
            </a:r>
          </a:p>
        </p:txBody>
      </p:sp>
      <p:sp>
        <p:nvSpPr>
          <p:cNvPr id="3" name="Content Placeholder 2"/>
          <p:cNvSpPr>
            <a:spLocks noGrp="1"/>
          </p:cNvSpPr>
          <p:nvPr>
            <p:ph idx="1"/>
          </p:nvPr>
        </p:nvSpPr>
        <p:spPr/>
        <p:txBody>
          <a:bodyPr>
            <a:noAutofit/>
          </a:bodyPr>
          <a:lstStyle/>
          <a:p>
            <a:pPr marL="0" indent="0">
              <a:buNone/>
            </a:pPr>
            <a:r>
              <a:rPr lang="en-IN" sz="2400" b="1" dirty="0"/>
              <a:t>Functional Requirements</a:t>
            </a:r>
          </a:p>
          <a:p>
            <a:pPr marL="457200" indent="-457200">
              <a:buFont typeface="Arial" panose="020B0604020202020204" pitchFamily="34" charset="0"/>
              <a:buChar char="•"/>
            </a:pPr>
            <a:r>
              <a:rPr lang="en-US" sz="2400" dirty="0"/>
              <a:t>Accept delivery locations, depot details, and time windows as input</a:t>
            </a:r>
          </a:p>
          <a:p>
            <a:pPr marL="457200" indent="-457200">
              <a:buFont typeface="Arial" panose="020B0604020202020204" pitchFamily="34" charset="0"/>
              <a:buChar char="•"/>
            </a:pPr>
            <a:r>
              <a:rPr lang="en-US" sz="2400" dirty="0"/>
              <a:t>Generate an optimal delivery route using QAOA</a:t>
            </a:r>
          </a:p>
          <a:p>
            <a:pPr marL="457200" indent="-457200">
              <a:buFont typeface="Arial" panose="020B0604020202020204" pitchFamily="34" charset="0"/>
              <a:buChar char="•"/>
            </a:pPr>
            <a:r>
              <a:rPr lang="en-US" sz="2400" dirty="0"/>
              <a:t>Generate multiple alternate routes for each delivery partner</a:t>
            </a:r>
          </a:p>
          <a:p>
            <a:pPr marL="457200" indent="-457200">
              <a:buFont typeface="Arial" panose="020B0604020202020204" pitchFamily="34" charset="0"/>
              <a:buChar char="•"/>
            </a:pPr>
            <a:r>
              <a:rPr lang="en-US" sz="2400" dirty="0"/>
              <a:t>Switch to an alternate route when traffic or delays occur</a:t>
            </a:r>
          </a:p>
          <a:p>
            <a:pPr marL="457200" indent="-457200">
              <a:buFont typeface="Arial" panose="020B0604020202020204" pitchFamily="34" charset="0"/>
              <a:buChar char="•"/>
            </a:pPr>
            <a:r>
              <a:rPr lang="en-US" sz="2400" dirty="0"/>
              <a:t>Validate routes to ensure time and capacity constraints are met</a:t>
            </a:r>
            <a:endParaRPr lang="en-IN" sz="2400" dirty="0"/>
          </a:p>
          <a:p>
            <a:pPr marL="0" indent="0">
              <a:buNone/>
            </a:pPr>
            <a:r>
              <a:rPr lang="en-IN" sz="2400" b="1" dirty="0"/>
              <a:t>Non-Functional Requirements</a:t>
            </a:r>
          </a:p>
          <a:p>
            <a:pPr marL="457200" indent="-457200">
              <a:buFont typeface="Arial" panose="020B0604020202020204" pitchFamily="34" charset="0"/>
              <a:buChar char="•"/>
            </a:pPr>
            <a:r>
              <a:rPr lang="en-US" sz="2400" dirty="0"/>
              <a:t>Scalability for small to medium delivery networks</a:t>
            </a:r>
          </a:p>
          <a:p>
            <a:pPr marL="457200" indent="-457200">
              <a:buFont typeface="Arial" panose="020B0604020202020204" pitchFamily="34" charset="0"/>
              <a:buChar char="•"/>
            </a:pPr>
            <a:r>
              <a:rPr lang="en-US" sz="2400" dirty="0"/>
              <a:t>Reduced delivery time and fuel consumption</a:t>
            </a:r>
          </a:p>
          <a:p>
            <a:pPr marL="457200" indent="-457200">
              <a:buFont typeface="Arial" panose="020B0604020202020204" pitchFamily="34" charset="0"/>
              <a:buChar char="•"/>
            </a:pPr>
            <a:r>
              <a:rPr lang="en-IN" sz="2400" dirty="0"/>
              <a:t>Reliable performance in dynamic conditions</a:t>
            </a:r>
            <a:endParaRPr lang="en-IN" sz="2400" b="1" dirty="0"/>
          </a:p>
          <a:p>
            <a:pPr marL="457200" indent="-457200">
              <a:buFont typeface="Arial" panose="020B0604020202020204" pitchFamily="34" charset="0"/>
              <a:buChar char="•"/>
            </a:pPr>
            <a:r>
              <a:rPr lang="en-IN" sz="2400" dirty="0"/>
              <a:t>Compatibility with hybrid quantum–classical execution</a:t>
            </a:r>
          </a:p>
          <a:p>
            <a:pPr marL="457200" indent="-457200">
              <a:buFont typeface="Arial" panose="020B0604020202020204" pitchFamily="34" charset="0"/>
              <a:buChar char="•"/>
            </a:pPr>
            <a:r>
              <a:rPr lang="en-IN" sz="2400" dirty="0"/>
              <a:t>Stable and robust optimization results</a:t>
            </a:r>
          </a:p>
        </p:txBody>
      </p:sp>
      <p:sp>
        <p:nvSpPr>
          <p:cNvPr id="5" name="TextBox 4">
            <a:extLst>
              <a:ext uri="{FF2B5EF4-FFF2-40B4-BE49-F238E27FC236}">
                <a16:creationId xmlns:a16="http://schemas.microsoft.com/office/drawing/2014/main" id="{0151B680-4391-7C04-2DB6-0A049DB18897}"/>
              </a:ext>
            </a:extLst>
          </p:cNvPr>
          <p:cNvSpPr txBox="1"/>
          <p:nvPr/>
        </p:nvSpPr>
        <p:spPr>
          <a:xfrm>
            <a:off x="479308" y="6606491"/>
            <a:ext cx="6163056" cy="307777"/>
          </a:xfrm>
          <a:prstGeom prst="rect">
            <a:avLst/>
          </a:prstGeom>
          <a:noFill/>
        </p:spPr>
        <p:txBody>
          <a:bodyPr wrap="square" rtlCol="0">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21810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                            Data Flow Diagram</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237417" y="947651"/>
            <a:ext cx="4462445" cy="5596840"/>
          </a:xfrm>
        </p:spPr>
      </p:pic>
      <p:sp>
        <p:nvSpPr>
          <p:cNvPr id="3" name="TextBox 2">
            <a:extLst>
              <a:ext uri="{FF2B5EF4-FFF2-40B4-BE49-F238E27FC236}">
                <a16:creationId xmlns:a16="http://schemas.microsoft.com/office/drawing/2014/main" id="{6D811A61-28D2-130E-3B79-D0C5E855214B}"/>
              </a:ext>
            </a:extLst>
          </p:cNvPr>
          <p:cNvSpPr txBox="1"/>
          <p:nvPr/>
        </p:nvSpPr>
        <p:spPr>
          <a:xfrm>
            <a:off x="947650" y="6625241"/>
            <a:ext cx="6163056" cy="310896"/>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a:p>
            <a:endParaRPr lang="en-IN" sz="1400" dirty="0"/>
          </a:p>
        </p:txBody>
      </p:sp>
    </p:spTree>
    <p:extLst>
      <p:ext uri="{BB962C8B-B14F-4D97-AF65-F5344CB8AC3E}">
        <p14:creationId xmlns:p14="http://schemas.microsoft.com/office/powerpoint/2010/main" val="16302708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4CA31-6453-1103-9E0A-697C9B9490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C89284-51A9-0F53-45BA-B7B93EA4D2A2}"/>
              </a:ext>
            </a:extLst>
          </p:cNvPr>
          <p:cNvSpPr>
            <a:spLocks noGrp="1"/>
          </p:cNvSpPr>
          <p:nvPr>
            <p:ph type="title"/>
          </p:nvPr>
        </p:nvSpPr>
        <p:spPr/>
        <p:txBody>
          <a:bodyPr/>
          <a:lstStyle/>
          <a:p>
            <a:r>
              <a:rPr lang="en-IN" dirty="0"/>
              <a:t>                            Data Flow Diagram</a:t>
            </a:r>
          </a:p>
        </p:txBody>
      </p:sp>
      <p:sp>
        <p:nvSpPr>
          <p:cNvPr id="3" name="TextBox 2">
            <a:extLst>
              <a:ext uri="{FF2B5EF4-FFF2-40B4-BE49-F238E27FC236}">
                <a16:creationId xmlns:a16="http://schemas.microsoft.com/office/drawing/2014/main" id="{81914987-E60D-43C6-339E-7AC5DA8D032B}"/>
              </a:ext>
            </a:extLst>
          </p:cNvPr>
          <p:cNvSpPr txBox="1"/>
          <p:nvPr/>
        </p:nvSpPr>
        <p:spPr>
          <a:xfrm>
            <a:off x="947650" y="6625241"/>
            <a:ext cx="6163056" cy="310896"/>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a:p>
            <a:endParaRPr lang="en-IN" sz="1400" dirty="0"/>
          </a:p>
        </p:txBody>
      </p:sp>
      <p:pic>
        <p:nvPicPr>
          <p:cNvPr id="9" name="Picture 8">
            <a:extLst>
              <a:ext uri="{FF2B5EF4-FFF2-40B4-BE49-F238E27FC236}">
                <a16:creationId xmlns:a16="http://schemas.microsoft.com/office/drawing/2014/main" id="{80756F66-4DE5-F9A3-FB2F-7E4EE617F8F9}"/>
              </a:ext>
            </a:extLst>
          </p:cNvPr>
          <p:cNvPicPr>
            <a:picLocks noChangeAspect="1"/>
          </p:cNvPicPr>
          <p:nvPr/>
        </p:nvPicPr>
        <p:blipFill>
          <a:blip r:embed="rId2">
            <a:extLst>
              <a:ext uri="{28A0092B-C50C-407E-A947-70E740481C1C}">
                <a14:useLocalDpi xmlns:a14="http://schemas.microsoft.com/office/drawing/2010/main" val="0"/>
              </a:ext>
            </a:extLst>
          </a:blip>
          <a:srcRect b="48815"/>
          <a:stretch>
            <a:fillRect/>
          </a:stretch>
        </p:blipFill>
        <p:spPr>
          <a:xfrm>
            <a:off x="2161309" y="964276"/>
            <a:ext cx="8395855" cy="5348975"/>
          </a:xfrm>
          <a:prstGeom prst="rect">
            <a:avLst/>
          </a:prstGeom>
        </p:spPr>
      </p:pic>
    </p:spTree>
    <p:extLst>
      <p:ext uri="{BB962C8B-B14F-4D97-AF65-F5344CB8AC3E}">
        <p14:creationId xmlns:p14="http://schemas.microsoft.com/office/powerpoint/2010/main" val="27334180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83632-C194-FD83-68B2-9045907407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48E4C-0B85-31BD-793B-7A51A93AECB2}"/>
              </a:ext>
            </a:extLst>
          </p:cNvPr>
          <p:cNvSpPr>
            <a:spLocks noGrp="1"/>
          </p:cNvSpPr>
          <p:nvPr>
            <p:ph type="title"/>
          </p:nvPr>
        </p:nvSpPr>
        <p:spPr/>
        <p:txBody>
          <a:bodyPr/>
          <a:lstStyle/>
          <a:p>
            <a:r>
              <a:rPr lang="en-IN" dirty="0"/>
              <a:t>                            Data Flow Diagram</a:t>
            </a:r>
          </a:p>
        </p:txBody>
      </p:sp>
      <p:sp>
        <p:nvSpPr>
          <p:cNvPr id="3" name="TextBox 2">
            <a:extLst>
              <a:ext uri="{FF2B5EF4-FFF2-40B4-BE49-F238E27FC236}">
                <a16:creationId xmlns:a16="http://schemas.microsoft.com/office/drawing/2014/main" id="{DD9CA01D-9CAF-FB38-F7A0-9C02331C1017}"/>
              </a:ext>
            </a:extLst>
          </p:cNvPr>
          <p:cNvSpPr txBox="1"/>
          <p:nvPr/>
        </p:nvSpPr>
        <p:spPr>
          <a:xfrm>
            <a:off x="947650" y="6625241"/>
            <a:ext cx="6163056" cy="310896"/>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a:p>
            <a:endParaRPr lang="en-IN" sz="1400" dirty="0"/>
          </a:p>
        </p:txBody>
      </p:sp>
      <p:pic>
        <p:nvPicPr>
          <p:cNvPr id="9" name="Picture 8">
            <a:extLst>
              <a:ext uri="{FF2B5EF4-FFF2-40B4-BE49-F238E27FC236}">
                <a16:creationId xmlns:a16="http://schemas.microsoft.com/office/drawing/2014/main" id="{48AFC9D3-B073-97FB-F049-0BAAD0AF6D3D}"/>
              </a:ext>
            </a:extLst>
          </p:cNvPr>
          <p:cNvPicPr>
            <a:picLocks noChangeAspect="1"/>
          </p:cNvPicPr>
          <p:nvPr/>
        </p:nvPicPr>
        <p:blipFill>
          <a:blip r:embed="rId2">
            <a:extLst>
              <a:ext uri="{28A0092B-C50C-407E-A947-70E740481C1C}">
                <a14:useLocalDpi xmlns:a14="http://schemas.microsoft.com/office/drawing/2010/main" val="0"/>
              </a:ext>
            </a:extLst>
          </a:blip>
          <a:srcRect t="50658"/>
          <a:stretch>
            <a:fillRect/>
          </a:stretch>
        </p:blipFill>
        <p:spPr>
          <a:xfrm>
            <a:off x="2161309" y="1099226"/>
            <a:ext cx="8395855" cy="5393013"/>
          </a:xfrm>
          <a:prstGeom prst="rect">
            <a:avLst/>
          </a:prstGeom>
        </p:spPr>
      </p:pic>
    </p:spTree>
    <p:extLst>
      <p:ext uri="{BB962C8B-B14F-4D97-AF65-F5344CB8AC3E}">
        <p14:creationId xmlns:p14="http://schemas.microsoft.com/office/powerpoint/2010/main" val="26392350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8B90E4-C252-1A07-EC67-5E545D0B87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B7F89-B1F9-49BA-19D7-7558635B3711}"/>
              </a:ext>
            </a:extLst>
          </p:cNvPr>
          <p:cNvSpPr>
            <a:spLocks noGrp="1"/>
          </p:cNvSpPr>
          <p:nvPr>
            <p:ph type="title"/>
          </p:nvPr>
        </p:nvSpPr>
        <p:spPr/>
        <p:txBody>
          <a:bodyPr/>
          <a:lstStyle/>
          <a:p>
            <a:r>
              <a:rPr lang="en-IN" dirty="0"/>
              <a:t>                            Sample Code</a:t>
            </a:r>
          </a:p>
        </p:txBody>
      </p:sp>
      <p:sp>
        <p:nvSpPr>
          <p:cNvPr id="3" name="TextBox 2">
            <a:extLst>
              <a:ext uri="{FF2B5EF4-FFF2-40B4-BE49-F238E27FC236}">
                <a16:creationId xmlns:a16="http://schemas.microsoft.com/office/drawing/2014/main" id="{FECCBC48-9F4D-90E1-9241-B11E1D5A4461}"/>
              </a:ext>
            </a:extLst>
          </p:cNvPr>
          <p:cNvSpPr txBox="1"/>
          <p:nvPr/>
        </p:nvSpPr>
        <p:spPr>
          <a:xfrm>
            <a:off x="947650" y="6625241"/>
            <a:ext cx="6163056" cy="310896"/>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a:p>
            <a:endParaRPr lang="en-IN" sz="1400" dirty="0"/>
          </a:p>
        </p:txBody>
      </p:sp>
      <p:sp>
        <p:nvSpPr>
          <p:cNvPr id="11" name="Content Placeholder 10">
            <a:extLst>
              <a:ext uri="{FF2B5EF4-FFF2-40B4-BE49-F238E27FC236}">
                <a16:creationId xmlns:a16="http://schemas.microsoft.com/office/drawing/2014/main" id="{D6B077B6-EC3F-C9F4-33E2-122C8A17EF44}"/>
              </a:ext>
            </a:extLst>
          </p:cNvPr>
          <p:cNvSpPr>
            <a:spLocks noGrp="1"/>
          </p:cNvSpPr>
          <p:nvPr>
            <p:ph idx="1"/>
          </p:nvPr>
        </p:nvSpPr>
        <p:spPr/>
        <p:txBody>
          <a:bodyPr/>
          <a:lstStyle/>
          <a:p>
            <a:pPr marL="0" indent="0">
              <a:buNone/>
            </a:pPr>
            <a:r>
              <a:rPr lang="en-IN" dirty="0"/>
              <a:t>import </a:t>
            </a:r>
            <a:r>
              <a:rPr lang="en-IN" dirty="0" err="1"/>
              <a:t>numpy</a:t>
            </a:r>
            <a:r>
              <a:rPr lang="en-IN" dirty="0"/>
              <a:t> as np</a:t>
            </a:r>
          </a:p>
          <a:p>
            <a:pPr marL="0" indent="0">
              <a:buNone/>
            </a:pPr>
            <a:r>
              <a:rPr lang="en-IN" dirty="0"/>
              <a:t>from </a:t>
            </a:r>
            <a:r>
              <a:rPr lang="en-IN" dirty="0" err="1"/>
              <a:t>sklearn.cluster</a:t>
            </a:r>
            <a:r>
              <a:rPr lang="en-IN" dirty="0"/>
              <a:t> import </a:t>
            </a:r>
            <a:r>
              <a:rPr lang="en-IN" dirty="0" err="1"/>
              <a:t>KMeans</a:t>
            </a:r>
            <a:endParaRPr lang="en-IN" dirty="0"/>
          </a:p>
          <a:p>
            <a:pPr marL="0" indent="0">
              <a:buNone/>
            </a:pPr>
            <a:r>
              <a:rPr lang="en-IN" dirty="0"/>
              <a:t>from </a:t>
            </a:r>
            <a:r>
              <a:rPr lang="en-IN" dirty="0" err="1"/>
              <a:t>qiskit_optimization</a:t>
            </a:r>
            <a:r>
              <a:rPr lang="en-IN" dirty="0"/>
              <a:t> import </a:t>
            </a:r>
            <a:r>
              <a:rPr lang="en-IN" dirty="0" err="1"/>
              <a:t>QuadraticProgram</a:t>
            </a:r>
            <a:endParaRPr lang="en-IN" dirty="0"/>
          </a:p>
          <a:p>
            <a:pPr marL="0" indent="0">
              <a:buNone/>
            </a:pPr>
            <a:r>
              <a:rPr lang="en-IN" dirty="0"/>
              <a:t>from </a:t>
            </a:r>
            <a:r>
              <a:rPr lang="en-IN" dirty="0" err="1"/>
              <a:t>qiskit_optimization.algorithms</a:t>
            </a:r>
            <a:r>
              <a:rPr lang="en-IN" dirty="0"/>
              <a:t> import </a:t>
            </a:r>
            <a:r>
              <a:rPr lang="en-IN" dirty="0" err="1"/>
              <a:t>MinimumEigenOptimizer</a:t>
            </a:r>
            <a:endParaRPr lang="en-IN" dirty="0"/>
          </a:p>
          <a:p>
            <a:pPr marL="0" indent="0">
              <a:buNone/>
            </a:pPr>
            <a:r>
              <a:rPr lang="en-IN" dirty="0"/>
              <a:t>from </a:t>
            </a:r>
            <a:r>
              <a:rPr lang="en-IN" dirty="0" err="1"/>
              <a:t>qiskit_algorithms</a:t>
            </a:r>
            <a:r>
              <a:rPr lang="en-IN" dirty="0"/>
              <a:t> import QAOA</a:t>
            </a:r>
          </a:p>
          <a:p>
            <a:pPr marL="0" indent="0">
              <a:buNone/>
            </a:pPr>
            <a:r>
              <a:rPr lang="en-IN" dirty="0"/>
              <a:t>from </a:t>
            </a:r>
            <a:r>
              <a:rPr lang="en-IN" dirty="0" err="1"/>
              <a:t>qiskit_algorithms.optimizers</a:t>
            </a:r>
            <a:r>
              <a:rPr lang="en-IN" dirty="0"/>
              <a:t> import COBYLA</a:t>
            </a:r>
          </a:p>
          <a:p>
            <a:pPr marL="0" indent="0">
              <a:buNone/>
            </a:pPr>
            <a:r>
              <a:rPr lang="en-IN" dirty="0"/>
              <a:t>from </a:t>
            </a:r>
            <a:r>
              <a:rPr lang="en-IN" dirty="0" err="1"/>
              <a:t>qiskit.primitives</a:t>
            </a:r>
            <a:r>
              <a:rPr lang="en-IN" dirty="0"/>
              <a:t> import </a:t>
            </a:r>
            <a:r>
              <a:rPr lang="en-IN" dirty="0" err="1"/>
              <a:t>StatevectorEstimator</a:t>
            </a:r>
            <a:endParaRPr lang="en-IN" dirty="0"/>
          </a:p>
          <a:p>
            <a:pPr marL="0" indent="0">
              <a:buNone/>
            </a:pPr>
            <a:endParaRPr lang="en-IN" dirty="0"/>
          </a:p>
        </p:txBody>
      </p:sp>
    </p:spTree>
    <p:extLst>
      <p:ext uri="{BB962C8B-B14F-4D97-AF65-F5344CB8AC3E}">
        <p14:creationId xmlns:p14="http://schemas.microsoft.com/office/powerpoint/2010/main" val="4289919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E85596-4542-9142-BBF8-BB69C71B5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C4300-FA36-9EDB-09F8-5320B4F6EAFD}"/>
              </a:ext>
            </a:extLst>
          </p:cNvPr>
          <p:cNvSpPr>
            <a:spLocks noGrp="1"/>
          </p:cNvSpPr>
          <p:nvPr>
            <p:ph type="title"/>
          </p:nvPr>
        </p:nvSpPr>
        <p:spPr/>
        <p:txBody>
          <a:bodyPr/>
          <a:lstStyle/>
          <a:p>
            <a:r>
              <a:rPr lang="en-IN" dirty="0"/>
              <a:t>                            Sample Code</a:t>
            </a:r>
          </a:p>
        </p:txBody>
      </p:sp>
      <p:sp>
        <p:nvSpPr>
          <p:cNvPr id="3" name="TextBox 2">
            <a:extLst>
              <a:ext uri="{FF2B5EF4-FFF2-40B4-BE49-F238E27FC236}">
                <a16:creationId xmlns:a16="http://schemas.microsoft.com/office/drawing/2014/main" id="{60E889D3-7E80-84CD-A47A-CEEEC9483EB9}"/>
              </a:ext>
            </a:extLst>
          </p:cNvPr>
          <p:cNvSpPr txBox="1"/>
          <p:nvPr/>
        </p:nvSpPr>
        <p:spPr>
          <a:xfrm>
            <a:off x="947650" y="6625241"/>
            <a:ext cx="6163056" cy="310896"/>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a:p>
            <a:endParaRPr lang="en-IN" sz="1400" dirty="0"/>
          </a:p>
        </p:txBody>
      </p:sp>
      <p:sp>
        <p:nvSpPr>
          <p:cNvPr id="11" name="Content Placeholder 10">
            <a:extLst>
              <a:ext uri="{FF2B5EF4-FFF2-40B4-BE49-F238E27FC236}">
                <a16:creationId xmlns:a16="http://schemas.microsoft.com/office/drawing/2014/main" id="{02350D6E-553D-02B6-6C38-AB15D9189609}"/>
              </a:ext>
            </a:extLst>
          </p:cNvPr>
          <p:cNvSpPr>
            <a:spLocks noGrp="1"/>
          </p:cNvSpPr>
          <p:nvPr>
            <p:ph idx="1"/>
          </p:nvPr>
        </p:nvSpPr>
        <p:spPr/>
        <p:txBody>
          <a:bodyPr>
            <a:normAutofit/>
          </a:bodyPr>
          <a:lstStyle/>
          <a:p>
            <a:r>
              <a:rPr lang="en-IN" dirty="0"/>
              <a:t>Solve using QAOA</a:t>
            </a:r>
          </a:p>
          <a:p>
            <a:pPr marL="0" indent="0">
              <a:buNone/>
            </a:pPr>
            <a:r>
              <a:rPr lang="en-IN" dirty="0"/>
              <a:t>def </a:t>
            </a:r>
            <a:r>
              <a:rPr lang="en-IN" dirty="0" err="1"/>
              <a:t>solve_qaoa</a:t>
            </a:r>
            <a:r>
              <a:rPr lang="en-IN" dirty="0"/>
              <a:t>(</a:t>
            </a:r>
            <a:r>
              <a:rPr lang="en-IN" dirty="0" err="1"/>
              <a:t>qp</a:t>
            </a:r>
            <a:r>
              <a:rPr lang="en-IN" dirty="0"/>
              <a:t>):</a:t>
            </a:r>
          </a:p>
          <a:p>
            <a:pPr marL="0" indent="0">
              <a:buNone/>
            </a:pPr>
            <a:r>
              <a:rPr lang="en-IN" dirty="0"/>
              <a:t>	estimator = </a:t>
            </a:r>
            <a:r>
              <a:rPr lang="en-IN" dirty="0" err="1"/>
              <a:t>StatevectorEstimator</a:t>
            </a:r>
            <a:r>
              <a:rPr lang="en-IN" dirty="0"/>
              <a:t>()</a:t>
            </a:r>
          </a:p>
          <a:p>
            <a:pPr marL="0" indent="0">
              <a:buNone/>
            </a:pPr>
            <a:r>
              <a:rPr lang="en-IN" dirty="0"/>
              <a:t>	</a:t>
            </a:r>
            <a:r>
              <a:rPr lang="en-IN" dirty="0" err="1"/>
              <a:t>qaoa</a:t>
            </a:r>
            <a:r>
              <a:rPr lang="en-IN" dirty="0"/>
              <a:t> = QAOA(estimator, COBYLA(), reps=2)</a:t>
            </a:r>
          </a:p>
          <a:p>
            <a:pPr marL="0" indent="0">
              <a:buNone/>
            </a:pPr>
            <a:r>
              <a:rPr lang="en-IN" dirty="0"/>
              <a:t>	optimizer = </a:t>
            </a:r>
            <a:r>
              <a:rPr lang="en-IN" dirty="0" err="1"/>
              <a:t>MinimumEigenOptimizer</a:t>
            </a:r>
            <a:r>
              <a:rPr lang="en-IN" dirty="0"/>
              <a:t>(</a:t>
            </a:r>
            <a:r>
              <a:rPr lang="en-IN" dirty="0" err="1"/>
              <a:t>qaoa</a:t>
            </a:r>
            <a:r>
              <a:rPr lang="en-IN" dirty="0"/>
              <a:t>)</a:t>
            </a:r>
          </a:p>
          <a:p>
            <a:pPr marL="0" indent="0">
              <a:buNone/>
            </a:pPr>
            <a:r>
              <a:rPr lang="en-IN" dirty="0"/>
              <a:t>	result = </a:t>
            </a:r>
            <a:r>
              <a:rPr lang="en-IN" dirty="0" err="1"/>
              <a:t>optimizer.solve</a:t>
            </a:r>
            <a:r>
              <a:rPr lang="en-IN" dirty="0"/>
              <a:t>(</a:t>
            </a:r>
            <a:r>
              <a:rPr lang="en-IN" dirty="0" err="1"/>
              <a:t>qp</a:t>
            </a:r>
            <a:r>
              <a:rPr lang="en-IN" dirty="0"/>
              <a:t>)</a:t>
            </a:r>
          </a:p>
          <a:p>
            <a:pPr marL="0" indent="0">
              <a:buNone/>
            </a:pPr>
            <a:r>
              <a:rPr lang="en-IN" dirty="0"/>
              <a:t>	return result</a:t>
            </a:r>
          </a:p>
        </p:txBody>
      </p:sp>
      <p:sp>
        <p:nvSpPr>
          <p:cNvPr id="4" name="TextBox 3">
            <a:extLst>
              <a:ext uri="{FF2B5EF4-FFF2-40B4-BE49-F238E27FC236}">
                <a16:creationId xmlns:a16="http://schemas.microsoft.com/office/drawing/2014/main" id="{BEF08A22-02A4-9096-8FD0-096DC6CDDC85}"/>
              </a:ext>
            </a:extLst>
          </p:cNvPr>
          <p:cNvSpPr txBox="1"/>
          <p:nvPr/>
        </p:nvSpPr>
        <p:spPr>
          <a:xfrm>
            <a:off x="8414794" y="3258273"/>
            <a:ext cx="3171463" cy="3139321"/>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Input:</a:t>
            </a:r>
          </a:p>
          <a:p>
            <a:r>
              <a:rPr lang="en-IN" dirty="0" err="1">
                <a:latin typeface="Times New Roman" panose="02020603050405020304" pitchFamily="18" charset="0"/>
                <a:cs typeface="Times New Roman" panose="02020603050405020304" pitchFamily="18" charset="0"/>
              </a:rPr>
              <a:t>qp</a:t>
            </a:r>
            <a:r>
              <a:rPr lang="en-IN" dirty="0">
                <a:latin typeface="Times New Roman" panose="02020603050405020304" pitchFamily="18" charset="0"/>
                <a:cs typeface="Times New Roman" panose="02020603050405020304" pitchFamily="18" charset="0"/>
              </a:rPr>
              <a:t> (QUBO problem)</a:t>
            </a:r>
          </a:p>
          <a:p>
            <a:r>
              <a:rPr lang="en-IN" dirty="0" err="1">
                <a:latin typeface="Times New Roman" panose="02020603050405020304" pitchFamily="18" charset="0"/>
                <a:cs typeface="Times New Roman" panose="02020603050405020304" pitchFamily="18" charset="0"/>
              </a:rPr>
              <a:t>StatevectorEstimator</a:t>
            </a:r>
            <a:r>
              <a:rPr lang="en-IN" dirty="0">
                <a:latin typeface="Times New Roman" panose="02020603050405020304" pitchFamily="18" charset="0"/>
                <a:cs typeface="Times New Roman" panose="02020603050405020304" pitchFamily="18" charset="0"/>
              </a:rPr>
              <a:t> → Simulate quantum circuit</a:t>
            </a:r>
          </a:p>
          <a:p>
            <a:r>
              <a:rPr lang="en-IN" dirty="0">
                <a:latin typeface="Times New Roman" panose="02020603050405020304" pitchFamily="18" charset="0"/>
                <a:cs typeface="Times New Roman" panose="02020603050405020304" pitchFamily="18" charset="0"/>
              </a:rPr>
              <a:t>QAOA → Search solution</a:t>
            </a:r>
          </a:p>
          <a:p>
            <a:r>
              <a:rPr lang="en-IN" dirty="0">
                <a:latin typeface="Times New Roman" panose="02020603050405020304" pitchFamily="18" charset="0"/>
                <a:cs typeface="Times New Roman" panose="02020603050405020304" pitchFamily="18" charset="0"/>
              </a:rPr>
              <a:t>COBYLA → Tune parameters</a:t>
            </a:r>
          </a:p>
          <a:p>
            <a:r>
              <a:rPr lang="en-IN" dirty="0" err="1">
                <a:latin typeface="Times New Roman" panose="02020603050405020304" pitchFamily="18" charset="0"/>
                <a:cs typeface="Times New Roman" panose="02020603050405020304" pitchFamily="18" charset="0"/>
              </a:rPr>
              <a:t>MinimumEigenOptimizer</a:t>
            </a:r>
            <a:r>
              <a:rPr lang="en-IN" dirty="0">
                <a:latin typeface="Times New Roman" panose="02020603050405020304" pitchFamily="18" charset="0"/>
                <a:cs typeface="Times New Roman" panose="02020603050405020304" pitchFamily="18" charset="0"/>
              </a:rPr>
              <a:t> → Extract result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Output:</a:t>
            </a:r>
          </a:p>
          <a:p>
            <a:r>
              <a:rPr lang="en-IN" dirty="0" err="1">
                <a:latin typeface="Times New Roman" panose="02020603050405020304" pitchFamily="18" charset="0"/>
                <a:cs typeface="Times New Roman" panose="02020603050405020304" pitchFamily="18" charset="0"/>
              </a:rPr>
              <a:t>OptimizationResult</a:t>
            </a:r>
            <a:r>
              <a:rPr lang="en-IN" dirty="0">
                <a:latin typeface="Times New Roman" panose="02020603050405020304" pitchFamily="18" charset="0"/>
                <a:cs typeface="Times New Roman" panose="02020603050405020304" pitchFamily="18" charset="0"/>
              </a:rPr>
              <a:t> object</a:t>
            </a:r>
          </a:p>
        </p:txBody>
      </p:sp>
    </p:spTree>
    <p:extLst>
      <p:ext uri="{BB962C8B-B14F-4D97-AF65-F5344CB8AC3E}">
        <p14:creationId xmlns:p14="http://schemas.microsoft.com/office/powerpoint/2010/main" val="18418817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9C2F81-6DD2-8C7A-FF24-942EC5C75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B08897-016E-10C0-49DD-94171BB90BE3}"/>
              </a:ext>
            </a:extLst>
          </p:cNvPr>
          <p:cNvSpPr>
            <a:spLocks noGrp="1"/>
          </p:cNvSpPr>
          <p:nvPr>
            <p:ph type="title"/>
          </p:nvPr>
        </p:nvSpPr>
        <p:spPr/>
        <p:txBody>
          <a:bodyPr/>
          <a:lstStyle/>
          <a:p>
            <a:r>
              <a:rPr lang="en-IN" dirty="0"/>
              <a:t>                            Project Output</a:t>
            </a:r>
          </a:p>
        </p:txBody>
      </p:sp>
      <p:sp>
        <p:nvSpPr>
          <p:cNvPr id="3" name="TextBox 2">
            <a:extLst>
              <a:ext uri="{FF2B5EF4-FFF2-40B4-BE49-F238E27FC236}">
                <a16:creationId xmlns:a16="http://schemas.microsoft.com/office/drawing/2014/main" id="{39495769-3182-3081-3607-5D3C0938E584}"/>
              </a:ext>
            </a:extLst>
          </p:cNvPr>
          <p:cNvSpPr txBox="1"/>
          <p:nvPr/>
        </p:nvSpPr>
        <p:spPr>
          <a:xfrm>
            <a:off x="947650" y="6625241"/>
            <a:ext cx="6163056" cy="310896"/>
          </a:xfrm>
          <a:prstGeom prst="rect">
            <a:avLst/>
          </a:prstGeom>
          <a:noFill/>
        </p:spPr>
        <p:txBody>
          <a:bodyPr wrap="square" rtlCol="0">
            <a:spAutoFit/>
          </a:bodyPr>
          <a:lstStyle/>
          <a:p>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a:p>
            <a:endParaRPr lang="en-IN" sz="1400" dirty="0"/>
          </a:p>
        </p:txBody>
      </p:sp>
      <p:pic>
        <p:nvPicPr>
          <p:cNvPr id="6" name="Picture 5">
            <a:extLst>
              <a:ext uri="{FF2B5EF4-FFF2-40B4-BE49-F238E27FC236}">
                <a16:creationId xmlns:a16="http://schemas.microsoft.com/office/drawing/2014/main" id="{9EAB1F27-778F-2904-262C-FCB8CF74D7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2484" y="1014151"/>
            <a:ext cx="8784323" cy="5544589"/>
          </a:xfrm>
          <a:prstGeom prst="rect">
            <a:avLst/>
          </a:prstGeom>
        </p:spPr>
      </p:pic>
      <p:sp>
        <p:nvSpPr>
          <p:cNvPr id="9" name="Content Placeholder 8">
            <a:extLst>
              <a:ext uri="{FF2B5EF4-FFF2-40B4-BE49-F238E27FC236}">
                <a16:creationId xmlns:a16="http://schemas.microsoft.com/office/drawing/2014/main" id="{75CAA799-A92F-41AB-2412-14BC95F628C0}"/>
              </a:ext>
            </a:extLst>
          </p:cNvPr>
          <p:cNvSpPr>
            <a:spLocks noGrp="1"/>
          </p:cNvSpPr>
          <p:nvPr>
            <p:ph idx="1"/>
          </p:nvPr>
        </p:nvSpPr>
        <p:spPr>
          <a:xfrm>
            <a:off x="1703838" y="9534931"/>
            <a:ext cx="11779135" cy="5394960"/>
          </a:xfrm>
        </p:spPr>
        <p:txBody>
          <a:bodyPr/>
          <a:lstStyle/>
          <a:p>
            <a:endParaRPr lang="en-IN" dirty="0"/>
          </a:p>
        </p:txBody>
      </p:sp>
    </p:spTree>
    <p:extLst>
      <p:ext uri="{BB962C8B-B14F-4D97-AF65-F5344CB8AC3E}">
        <p14:creationId xmlns:p14="http://schemas.microsoft.com/office/powerpoint/2010/main" val="3218178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Project Output</a:t>
            </a:r>
          </a:p>
        </p:txBody>
      </p:sp>
      <p:pic>
        <p:nvPicPr>
          <p:cNvPr id="5" name="Content Placeholder 4">
            <a:extLst>
              <a:ext uri="{FF2B5EF4-FFF2-40B4-BE49-F238E27FC236}">
                <a16:creationId xmlns:a16="http://schemas.microsoft.com/office/drawing/2014/main" id="{0ACABEC6-5218-E3EF-76A3-1A8BF8DF7A4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19476" y="1229329"/>
            <a:ext cx="3783774" cy="4983902"/>
          </a:xfrm>
        </p:spPr>
      </p:pic>
      <p:pic>
        <p:nvPicPr>
          <p:cNvPr id="7" name="Picture 6">
            <a:extLst>
              <a:ext uri="{FF2B5EF4-FFF2-40B4-BE49-F238E27FC236}">
                <a16:creationId xmlns:a16="http://schemas.microsoft.com/office/drawing/2014/main" id="{B1B0C507-41E9-117D-C08F-7FBEEE75C0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8750" y="1229329"/>
            <a:ext cx="7567550" cy="4191585"/>
          </a:xfrm>
          <a:prstGeom prst="rect">
            <a:avLst/>
          </a:prstGeom>
        </p:spPr>
      </p:pic>
    </p:spTree>
    <p:extLst>
      <p:ext uri="{BB962C8B-B14F-4D97-AF65-F5344CB8AC3E}">
        <p14:creationId xmlns:p14="http://schemas.microsoft.com/office/powerpoint/2010/main" val="37090355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p:txBody>
          <a:bodyPr>
            <a:noAutofit/>
          </a:bodyPr>
          <a:lstStyle/>
          <a:p>
            <a:pPr marL="577850" indent="-577850">
              <a:buNone/>
            </a:pPr>
            <a:r>
              <a:rPr lang="en-US" sz="2400" dirty="0"/>
              <a:t>[1].</a:t>
            </a:r>
            <a:r>
              <a:rPr lang="sv-SE" sz="2400" dirty="0"/>
              <a:t>Talha Azfar, Osama Muhammad Raisuddin, Ruimin Ke, and José Holguín-Veras,</a:t>
            </a:r>
            <a:r>
              <a:rPr lang="en-US" sz="2400" dirty="0"/>
              <a:t> “</a:t>
            </a:r>
            <a:r>
              <a:rPr lang="en-US" sz="2400" b="1" dirty="0"/>
              <a:t>Quantum-Assisted Vehicle Routing: Realizing QAOA-based Approach on Gate-Based Quantum Computer</a:t>
            </a:r>
            <a:r>
              <a:rPr lang="en-US" sz="2400" dirty="0"/>
              <a:t>”</a:t>
            </a:r>
            <a:r>
              <a:rPr lang="en-US" sz="2400" b="1" dirty="0"/>
              <a:t>,</a:t>
            </a:r>
            <a:r>
              <a:rPr lang="en-IN" sz="2400" dirty="0"/>
              <a:t> Rensselaer Polytechnic Institute, USA.</a:t>
            </a:r>
          </a:p>
          <a:p>
            <a:pPr marL="577850" indent="-577850">
              <a:buNone/>
            </a:pPr>
            <a:r>
              <a:rPr lang="en-IN" sz="2400" dirty="0"/>
              <a:t>[2].Eneko Osaba, Esther Villar-Rodriguez, Pablo Miranda-Rodriguez, and Antón Asla,</a:t>
            </a:r>
            <a:br>
              <a:rPr lang="en-IN" sz="2400" dirty="0"/>
            </a:br>
            <a:r>
              <a:rPr lang="en-IN" sz="2400" dirty="0"/>
              <a:t>“</a:t>
            </a:r>
            <a:r>
              <a:rPr lang="en-IN" sz="2400" b="1" dirty="0"/>
              <a:t>Optimizing Package Delivery with Quantum Annealers: Addressing Time-Windows and Simultaneous Pickup and Delivery</a:t>
            </a:r>
            <a:r>
              <a:rPr lang="en-IN" sz="2400" dirty="0"/>
              <a:t>”,</a:t>
            </a:r>
            <a:r>
              <a:rPr lang="en-IN" sz="2400" i="1" dirty="0"/>
              <a:t> </a:t>
            </a:r>
            <a:r>
              <a:rPr lang="en-IN" sz="2400" i="1" dirty="0" err="1"/>
              <a:t>arXiv</a:t>
            </a:r>
            <a:r>
              <a:rPr lang="en-IN" sz="2400" i="1" dirty="0"/>
              <a:t> preprint arXiv:2504.01560</a:t>
            </a:r>
            <a:r>
              <a:rPr lang="en-IN" sz="2400" dirty="0"/>
              <a:t>, Apr. 2025.</a:t>
            </a:r>
          </a:p>
          <a:p>
            <a:pPr marL="577850" indent="-577850">
              <a:buNone/>
            </a:pPr>
            <a:r>
              <a:rPr lang="en-IN" sz="2400" dirty="0"/>
              <a:t>[3].James B. Holliday, Darren Blount, Eneko Osaba, and Khoa Luu,</a:t>
            </a:r>
            <a:r>
              <a:rPr lang="en-US" sz="2400" dirty="0"/>
              <a:t> “</a:t>
            </a:r>
            <a:r>
              <a:rPr lang="en-US" sz="2400" b="1" dirty="0"/>
              <a:t>Advanced Quantum Annealing Approach to Vehicle Routing Problems with Time Windows</a:t>
            </a:r>
            <a:r>
              <a:rPr lang="en-US" sz="2400" dirty="0"/>
              <a:t>,”</a:t>
            </a:r>
            <a:br>
              <a:rPr lang="en-US" sz="2400" dirty="0"/>
            </a:br>
            <a:r>
              <a:rPr lang="en-US" sz="2400" i="1" dirty="0" err="1"/>
              <a:t>arXiv</a:t>
            </a:r>
            <a:r>
              <a:rPr lang="en-US" sz="2400" i="1" dirty="0"/>
              <a:t> preprint arXiv:2503.24285</a:t>
            </a:r>
            <a:r>
              <a:rPr lang="en-US" sz="2400" dirty="0"/>
              <a:t>, Mar. 2025.</a:t>
            </a:r>
          </a:p>
          <a:p>
            <a:pPr marL="577850" indent="-577850">
              <a:buNone/>
            </a:pPr>
            <a:r>
              <a:rPr lang="en-US" sz="2400" dirty="0"/>
              <a:t>[4].</a:t>
            </a:r>
            <a:r>
              <a:rPr lang="en-IN" sz="2400" dirty="0"/>
              <a:t> Andrew </a:t>
            </a:r>
            <a:r>
              <a:rPr lang="en-IN" sz="2400" dirty="0" err="1"/>
              <a:t>Maciejunes</a:t>
            </a:r>
            <a:r>
              <a:rPr lang="en-IN" sz="2400" dirty="0"/>
              <a:t>, John Stenger, Daniel </a:t>
            </a:r>
            <a:r>
              <a:rPr lang="en-IN" sz="2400" dirty="0" err="1"/>
              <a:t>Gunlycke</a:t>
            </a:r>
            <a:r>
              <a:rPr lang="en-IN" sz="2400" dirty="0"/>
              <a:t>, and Nikos </a:t>
            </a:r>
            <a:r>
              <a:rPr lang="en-IN" sz="2400" dirty="0" err="1"/>
              <a:t>Chrisochoides</a:t>
            </a:r>
            <a:r>
              <a:rPr lang="en-IN" sz="2400" dirty="0"/>
              <a:t>,</a:t>
            </a:r>
            <a:r>
              <a:rPr lang="en-US" sz="2400" dirty="0"/>
              <a:t> “</a:t>
            </a:r>
            <a:r>
              <a:rPr lang="en-US" sz="2400" b="1" dirty="0"/>
              <a:t>Solving Large-Scale Vehicle Routing Problems with Hybrid Quantum-Classical Decomposition”,</a:t>
            </a:r>
            <a:r>
              <a:rPr lang="en-US" sz="2400" dirty="0"/>
              <a:t> in </a:t>
            </a:r>
            <a:r>
              <a:rPr lang="en-US" sz="2400" i="1" dirty="0"/>
              <a:t>Proceedings of the IEEE International Conference on Quantum Computing and Engineering (QCE)</a:t>
            </a:r>
            <a:r>
              <a:rPr lang="en-US" sz="2400" dirty="0"/>
              <a:t>, 2025.</a:t>
            </a:r>
          </a:p>
          <a:p>
            <a:pPr marL="577850" indent="-577850">
              <a:buNone/>
            </a:pPr>
            <a:endParaRPr lang="en-US" sz="2400" b="1" dirty="0"/>
          </a:p>
          <a:p>
            <a:pPr marL="577850" indent="-577850">
              <a:buNone/>
            </a:pPr>
            <a:br>
              <a:rPr lang="en-US" sz="2400" dirty="0"/>
            </a:br>
            <a:endParaRPr lang="en-IN" sz="2400" dirty="0"/>
          </a:p>
        </p:txBody>
      </p:sp>
      <p:sp>
        <p:nvSpPr>
          <p:cNvPr id="5" name="TextBox 4">
            <a:extLst>
              <a:ext uri="{FF2B5EF4-FFF2-40B4-BE49-F238E27FC236}">
                <a16:creationId xmlns:a16="http://schemas.microsoft.com/office/drawing/2014/main" id="{67009DFF-7865-4E9F-EF9E-25840E1BE919}"/>
              </a:ext>
            </a:extLst>
          </p:cNvPr>
          <p:cNvSpPr txBox="1"/>
          <p:nvPr/>
        </p:nvSpPr>
        <p:spPr>
          <a:xfrm>
            <a:off x="396402" y="6625241"/>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3D851-EF27-C61C-3083-D53ACF8FEE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DE9664-FCFA-BEF0-865C-61A1883EB2F7}"/>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0884570F-87F4-3EE6-D374-6E2CED104199}"/>
              </a:ext>
            </a:extLst>
          </p:cNvPr>
          <p:cNvSpPr>
            <a:spLocks noGrp="1"/>
          </p:cNvSpPr>
          <p:nvPr>
            <p:ph idx="1"/>
          </p:nvPr>
        </p:nvSpPr>
        <p:spPr/>
        <p:txBody>
          <a:bodyPr>
            <a:noAutofit/>
          </a:bodyPr>
          <a:lstStyle/>
          <a:p>
            <a:pPr marL="577850" indent="-577850">
              <a:buNone/>
            </a:pPr>
            <a:r>
              <a:rPr lang="en-US" sz="2400" dirty="0"/>
              <a:t>[5].</a:t>
            </a:r>
            <a:r>
              <a:rPr lang="es-ES" sz="2400" dirty="0"/>
              <a:t>Eneko Osaba, Esther Villar-</a:t>
            </a:r>
            <a:r>
              <a:rPr lang="es-ES" sz="2400" dirty="0" err="1"/>
              <a:t>Rodriguez</a:t>
            </a:r>
            <a:r>
              <a:rPr lang="es-ES" sz="2400" dirty="0"/>
              <a:t>, and Antón </a:t>
            </a:r>
            <a:r>
              <a:rPr lang="es-ES" sz="2400" dirty="0" err="1"/>
              <a:t>Asla</a:t>
            </a:r>
            <a:r>
              <a:rPr lang="es-ES" sz="2400" dirty="0"/>
              <a:t>,</a:t>
            </a:r>
            <a:r>
              <a:rPr lang="en-US" sz="2400" dirty="0"/>
              <a:t>““</a:t>
            </a:r>
            <a:r>
              <a:rPr lang="en-US" sz="2400" b="1" dirty="0"/>
              <a:t>Solving a Real-World Package Delivery Routing Problem Using Quantum Annealers</a:t>
            </a:r>
            <a:r>
              <a:rPr lang="en-US" sz="2400" dirty="0"/>
              <a:t>,”</a:t>
            </a:r>
            <a:br>
              <a:rPr lang="en-US" sz="2400" dirty="0"/>
            </a:br>
            <a:r>
              <a:rPr lang="en-US" sz="2400" i="1" dirty="0"/>
              <a:t>Scientific Reports</a:t>
            </a:r>
            <a:r>
              <a:rPr lang="en-US" sz="2400" dirty="0"/>
              <a:t>, vol. 14, Article no. 24791, 2024.</a:t>
            </a:r>
          </a:p>
          <a:p>
            <a:pPr marL="577850" indent="-577850">
              <a:buNone/>
            </a:pPr>
            <a:r>
              <a:rPr lang="en-IN" sz="2400" dirty="0"/>
              <a:t>[6].Utkarsh Azad, Bikash K. Behera, Emad A. Ahmed, Prasanta K. Panigrahi, and Ahmed </a:t>
            </a:r>
            <a:r>
              <a:rPr lang="en-IN" sz="2400" dirty="0" err="1"/>
              <a:t>Farouk,“</a:t>
            </a:r>
            <a:r>
              <a:rPr lang="en-IN" sz="2400" b="1" dirty="0" err="1"/>
              <a:t>Solving</a:t>
            </a:r>
            <a:r>
              <a:rPr lang="en-IN" sz="2400" b="1" dirty="0"/>
              <a:t> Vehicle Routing Problem Using Quantum Approximate Optimization Algorithm</a:t>
            </a:r>
            <a:r>
              <a:rPr lang="en-IN" sz="2400" dirty="0"/>
              <a:t>”,</a:t>
            </a:r>
            <a:r>
              <a:rPr lang="en-IN" sz="2400" i="1" dirty="0"/>
              <a:t> IEEE Transactions on Intelligent Transportation Systems</a:t>
            </a:r>
            <a:r>
              <a:rPr lang="en-IN" sz="2400" dirty="0"/>
              <a:t>, vol. 24, no. 7, pp. 7564–7576, Jul. 2023. </a:t>
            </a:r>
          </a:p>
          <a:p>
            <a:pPr marL="577850" indent="-577850">
              <a:buNone/>
            </a:pPr>
            <a:r>
              <a:rPr lang="en-IN" sz="2400" dirty="0"/>
              <a:t>[7].Christopher D. B. Bentley, Samuel Marsh, André R. R. Carvalho, Philip Kilby, and Michael J. </a:t>
            </a:r>
            <a:r>
              <a:rPr lang="en-IN" sz="2400" dirty="0" err="1"/>
              <a:t>Biercuk</a:t>
            </a:r>
            <a:r>
              <a:rPr lang="en-IN" sz="2400" dirty="0"/>
              <a:t>,</a:t>
            </a:r>
            <a:r>
              <a:rPr lang="en-US" sz="2400" dirty="0"/>
              <a:t>“</a:t>
            </a:r>
            <a:r>
              <a:rPr lang="en-IN" sz="2400" b="1" dirty="0"/>
              <a:t>Quantum Computing for Transport Optimization</a:t>
            </a:r>
            <a:r>
              <a:rPr lang="en-IN" sz="2400" dirty="0"/>
              <a:t>”</a:t>
            </a:r>
            <a:r>
              <a:rPr lang="en-US" sz="2400" dirty="0"/>
              <a:t>,</a:t>
            </a:r>
            <a:br>
              <a:rPr lang="en-US" sz="2400" dirty="0"/>
            </a:br>
            <a:r>
              <a:rPr lang="en-US" sz="2400" i="1" dirty="0"/>
              <a:t>Transport Reviews</a:t>
            </a:r>
            <a:r>
              <a:rPr lang="en-US" sz="2400" dirty="0"/>
              <a:t>, vol. 42, no. 4, pp. 1–24, 2022.</a:t>
            </a:r>
            <a:endParaRPr lang="en-US" sz="2400" b="1" dirty="0"/>
          </a:p>
          <a:p>
            <a:pPr marL="577850" indent="-577850">
              <a:buNone/>
            </a:pPr>
            <a:br>
              <a:rPr lang="en-US" sz="2400" dirty="0"/>
            </a:br>
            <a:endParaRPr lang="en-IN" sz="2400" dirty="0"/>
          </a:p>
        </p:txBody>
      </p:sp>
      <p:sp>
        <p:nvSpPr>
          <p:cNvPr id="7" name="TextBox 6">
            <a:extLst>
              <a:ext uri="{FF2B5EF4-FFF2-40B4-BE49-F238E27FC236}">
                <a16:creationId xmlns:a16="http://schemas.microsoft.com/office/drawing/2014/main" id="{6AF739B9-21FF-F94B-6BFD-D9A68FA4F8C3}"/>
              </a:ext>
            </a:extLst>
          </p:cNvPr>
          <p:cNvSpPr txBox="1"/>
          <p:nvPr/>
        </p:nvSpPr>
        <p:spPr>
          <a:xfrm>
            <a:off x="454768" y="6619403"/>
            <a:ext cx="6298658"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416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753613" y="2375670"/>
            <a:ext cx="6603859" cy="1595117"/>
          </a:xfrm>
          <a:prstGeom prst="rect">
            <a:avLst/>
          </a:prstGeom>
        </p:spPr>
        <p:txBody>
          <a:bodyPr wrap="none">
            <a:spAutoFit/>
          </a:bodyPr>
          <a:lstStyle/>
          <a:p>
            <a:pPr>
              <a:lnSpc>
                <a:spcPct val="107000"/>
              </a:lnSpc>
              <a:spcAft>
                <a:spcPts val="800"/>
              </a:spcAft>
            </a:pPr>
            <a:r>
              <a:rPr lang="en-US" sz="9600" i="1" dirty="0">
                <a:ln w="0"/>
                <a:solidFill>
                  <a:srgbClr val="FF6600"/>
                </a:solidFill>
                <a:effectLst>
                  <a:outerShdw blurRad="38100" dist="25400" dir="5400000" algn="ctr" rotWithShape="0">
                    <a:srgbClr val="6E747A">
                      <a:alpha val="43000"/>
                    </a:srgbClr>
                  </a:outerShdw>
                </a:effectLst>
                <a:latin typeface="Times New Roman" panose="02020603050405020304" pitchFamily="18" charset="0"/>
                <a:ea typeface="Calibri" panose="020F0502020204030204" pitchFamily="34" charset="0"/>
                <a:cs typeface="Times New Roman" panose="02020603050405020304" pitchFamily="18" charset="0"/>
              </a:rPr>
              <a:t>Thank You!!!</a:t>
            </a:r>
            <a:endParaRPr lang="en-IN" sz="9600" dirty="0">
              <a:ln w="0"/>
              <a:solidFill>
                <a:srgbClr val="FF6600"/>
              </a:solidFill>
              <a:effectLst>
                <a:outerShdw blurRad="38100" dist="25400" dir="5400000" algn="ctr" rotWithShape="0">
                  <a:srgbClr val="6E747A">
                    <a:alpha val="43000"/>
                  </a:srgbClr>
                </a:outerShd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9B04F852-88AE-E360-77FE-F7E59B065005}"/>
              </a:ext>
            </a:extLst>
          </p:cNvPr>
          <p:cNvSpPr txBox="1"/>
          <p:nvPr/>
        </p:nvSpPr>
        <p:spPr>
          <a:xfrm>
            <a:off x="605547" y="6622383"/>
            <a:ext cx="6113834" cy="307777"/>
          </a:xfrm>
          <a:prstGeom prst="rect">
            <a:avLst/>
          </a:prstGeom>
          <a:noFill/>
        </p:spPr>
        <p:txBody>
          <a:bodyPr wrap="square">
            <a:spAutoFit/>
          </a:bodyPr>
          <a:lstStyle/>
          <a:p>
            <a:pPr algn="ctr"/>
            <a:r>
              <a:rPr lang="en-US" sz="1400" dirty="0">
                <a:solidFill>
                  <a:schemeClr val="bg1"/>
                </a:solidFill>
                <a:latin typeface="Times New Roman" panose="02020603050405020304" pitchFamily="18" charset="0"/>
                <a:cs typeface="Times New Roman" panose="02020603050405020304" pitchFamily="18" charset="0"/>
              </a:rPr>
              <a:t>DEPT. OF COMPUTER SCIENCE ENGINEERING(DATA SCIENCE)</a:t>
            </a:r>
            <a:endParaRPr lang="en-IN" sz="1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5201</TotalTime>
  <Words>1785</Words>
  <Application>Microsoft Office PowerPoint</Application>
  <PresentationFormat>Widescreen</PresentationFormat>
  <Paragraphs>201</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Courier New</vt:lpstr>
      <vt:lpstr>Times New Roman</vt:lpstr>
      <vt:lpstr>Wingdings</vt:lpstr>
      <vt:lpstr>Custom Design</vt:lpstr>
      <vt:lpstr>PowerPoint Presentation</vt:lpstr>
      <vt:lpstr>Review – 0 Comments </vt:lpstr>
      <vt:lpstr>Review – 1 Comments </vt:lpstr>
      <vt:lpstr>Abstract</vt:lpstr>
      <vt:lpstr>Problem Statement</vt:lpstr>
      <vt:lpstr>Objectives</vt:lpstr>
      <vt:lpstr>  Literature survey</vt:lpstr>
      <vt:lpstr>Proposed Work</vt:lpstr>
      <vt:lpstr>Introduction</vt:lpstr>
      <vt:lpstr>Existing System</vt:lpstr>
      <vt:lpstr>Proposed System</vt:lpstr>
      <vt:lpstr>Planning &amp; Design</vt:lpstr>
      <vt:lpstr>Requirements</vt:lpstr>
      <vt:lpstr>                            Data Flow Diagram</vt:lpstr>
      <vt:lpstr>                            Data Flow Diagram</vt:lpstr>
      <vt:lpstr>                            Data Flow Diagram</vt:lpstr>
      <vt:lpstr>                            Sample Code</vt:lpstr>
      <vt:lpstr>                            Sample Code</vt:lpstr>
      <vt:lpstr>                            Project Output</vt:lpstr>
      <vt:lpstr>Project Output</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venkatesh k</dc:creator>
  <cp:lastModifiedBy>Suraiah Khaisar</cp:lastModifiedBy>
  <cp:revision>151</cp:revision>
  <dcterms:created xsi:type="dcterms:W3CDTF">2019-06-11T05:35:00Z</dcterms:created>
  <dcterms:modified xsi:type="dcterms:W3CDTF">2026-02-05T08:56:38Z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B145199D08B64BC29E291925B1B5F72E</vt:lpwstr>
  </property>
  <property fmtid="{D5CDD505-2E9C-101B-9397-08002B2CF9AE}" pid="3" name="KSOProductBuildVer">
    <vt:lpwstr>1033-11.2.0.11254</vt:lpwstr>
  </property>
</Properties>
</file>